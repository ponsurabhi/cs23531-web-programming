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56" r:id="rId2"/>
    <p:sldId id="257" r:id="rId3"/>
    <p:sldId id="374" r:id="rId4"/>
    <p:sldId id="376" r:id="rId5"/>
    <p:sldId id="372" r:id="rId6"/>
    <p:sldId id="394" r:id="rId7"/>
    <p:sldId id="375" r:id="rId8"/>
    <p:sldId id="377" r:id="rId9"/>
    <p:sldId id="378" r:id="rId10"/>
    <p:sldId id="379" r:id="rId11"/>
    <p:sldId id="380" r:id="rId12"/>
    <p:sldId id="381" r:id="rId13"/>
    <p:sldId id="382" r:id="rId14"/>
    <p:sldId id="388" r:id="rId15"/>
    <p:sldId id="383" r:id="rId16"/>
    <p:sldId id="389" r:id="rId17"/>
    <p:sldId id="390" r:id="rId18"/>
    <p:sldId id="384" r:id="rId19"/>
    <p:sldId id="391" r:id="rId20"/>
    <p:sldId id="386" r:id="rId21"/>
    <p:sldId id="387" r:id="rId22"/>
    <p:sldId id="373" r:id="rId23"/>
    <p:sldId id="398" r:id="rId24"/>
    <p:sldId id="397" r:id="rId25"/>
    <p:sldId id="399" r:id="rId26"/>
    <p:sldId id="400" r:id="rId27"/>
    <p:sldId id="402" r:id="rId28"/>
    <p:sldId id="401" r:id="rId29"/>
    <p:sldId id="403" r:id="rId30"/>
    <p:sldId id="404" r:id="rId31"/>
    <p:sldId id="385" r:id="rId32"/>
    <p:sldId id="392" r:id="rId33"/>
    <p:sldId id="393" r:id="rId34"/>
    <p:sldId id="395" r:id="rId35"/>
    <p:sldId id="3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40" d="100"/>
          <a:sy n="40" d="100"/>
        </p:scale>
        <p:origin x="44"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dirty="0"/>
              <a:t>CS19811-Phase-II-Final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dirty="0"/>
              <a:t>CS19811-Phase-II-Final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tandfonline.com/doi/full/10.1080/00987913.2025.2529019?utm_source=chatgpt.com" TargetMode="External"/><Relationship Id="rId2" Type="http://schemas.openxmlformats.org/officeDocument/2006/relationships/slideLayout" Target="../slideLayouts/slideLayout2.xml"/><Relationship Id="rId1" Type="http://schemas.openxmlformats.org/officeDocument/2006/relationships/themeOverride" Target="../theme/themeOverride6.xml"/><Relationship Id="rId6" Type="http://schemas.openxmlformats.org/officeDocument/2006/relationships/hyperlink" Target="https://ieeexplore.ieee.org/document/10965463/?utm_source=chatgpt.com" TargetMode="External"/><Relationship Id="rId5" Type="http://schemas.openxmlformats.org/officeDocument/2006/relationships/hyperlink" Target="https://www.sciencedirect.com/science/article/pii/S0099133309000275?utm_source=chatgpt.com" TargetMode="External"/><Relationship Id="rId4" Type="http://schemas.openxmlformats.org/officeDocument/2006/relationships/hyperlink" Target="https://www.researchgate.net/publication/285450777_Literature_Review_of_Research_on_Web_Interface_in_Library_Management_Software_Systems?utm_source=chatgpt.com"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3.xml"/><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9.xml"/><Relationship Id="rId6" Type="http://schemas.openxmlformats.org/officeDocument/2006/relationships/hyperlink" Target="https://dev.mysql.com/doc/" TargetMode="External"/><Relationship Id="rId5" Type="http://schemas.openxmlformats.org/officeDocument/2006/relationships/hyperlink" Target="https://www.php.net/docs.php" TargetMode="External"/><Relationship Id="rId4" Type="http://schemas.openxmlformats.org/officeDocument/2006/relationships/hyperlink" Target="https://react.dev/"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840362" y="3057378"/>
            <a:ext cx="11037605" cy="144930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r>
              <a:rPr lang="en-IN" sz="3600" b="1" dirty="0">
                <a:solidFill>
                  <a:schemeClr val="accent6">
                    <a:lumMod val="75000"/>
                  </a:schemeClr>
                </a:solidFill>
                <a:latin typeface="Times New Roman" panose="02020603050405020304" pitchFamily="18" charset="0"/>
                <a:ea typeface="+mn-ea"/>
                <a:cs typeface="Times New Roman" panose="02020603050405020304" pitchFamily="18" charset="0"/>
              </a:rPr>
              <a:t>Project Title: BookBridge </a:t>
            </a:r>
          </a:p>
          <a:p>
            <a:pPr lvl="0"/>
            <a:r>
              <a:rPr lang="en-IN" sz="3600" b="1" dirty="0">
                <a:solidFill>
                  <a:schemeClr val="accent6">
                    <a:lumMod val="75000"/>
                  </a:schemeClr>
                </a:solidFill>
                <a:latin typeface="Times New Roman" panose="02020603050405020304" pitchFamily="18" charset="0"/>
                <a:ea typeface="+mn-ea"/>
                <a:cs typeface="Times New Roman" panose="02020603050405020304" pitchFamily="18" charset="0"/>
              </a:rPr>
              <a:t> A Web-Based Library Resource Management System</a:t>
            </a:r>
          </a:p>
          <a:p>
            <a:pPr algn="l">
              <a:lnSpc>
                <a:spcPct val="150000"/>
              </a:lnSpc>
            </a:pPr>
            <a:endParaRPr lang="en-IN" sz="2000" b="1" dirty="0">
              <a:solidFill>
                <a:schemeClr val="accent6">
                  <a:lumMod val="75000"/>
                </a:schemeClr>
              </a:solidFill>
              <a:latin typeface="Times New Roman" panose="02020603050405020304" pitchFamily="18" charset="0"/>
              <a:ea typeface="+mn-ea"/>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7398328" y="5228206"/>
            <a:ext cx="44796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NAME</a:t>
            </a:r>
            <a:r>
              <a:rPr lang="en-IN" altLang="en-US" sz="2000" b="1" dirty="0">
                <a:solidFill>
                  <a:srgbClr val="FF0000"/>
                </a:solidFill>
                <a:latin typeface="Times New Roman" panose="02020603050405020304" pitchFamily="18" charset="0"/>
                <a:cs typeface="Times New Roman" panose="02020603050405020304" pitchFamily="18" charset="0"/>
              </a:rPr>
              <a:t>: PONSURABHI V</a:t>
            </a:r>
          </a:p>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REG</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NO</a:t>
            </a:r>
            <a:r>
              <a:rPr lang="en-IN" altLang="en-US" sz="2000" b="1" dirty="0">
                <a:solidFill>
                  <a:srgbClr val="FF0000"/>
                </a:solidFill>
                <a:latin typeface="Times New Roman" panose="02020603050405020304" pitchFamily="18" charset="0"/>
                <a:cs typeface="Times New Roman" panose="02020603050405020304" pitchFamily="18" charset="0"/>
              </a:rPr>
              <a:t>: 241901077</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10603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 </a:t>
            </a:r>
          </a:p>
          <a:p>
            <a:r>
              <a:rPr lang="en-IN" sz="3200" b="1" dirty="0">
                <a:solidFill>
                  <a:srgbClr val="002060"/>
                </a:solidFill>
                <a:latin typeface="Times New Roman" panose="02020603050405020304" pitchFamily="18" charset="0"/>
                <a:ea typeface="+mn-ea"/>
                <a:cs typeface="Times New Roman" panose="02020603050405020304" pitchFamily="18" charset="0"/>
              </a:rPr>
              <a:t>(Cyber Security)</a:t>
            </a:r>
          </a:p>
        </p:txBody>
      </p:sp>
      <p:pic>
        <p:nvPicPr>
          <p:cNvPr id="4" name="Picture 3">
            <a:extLst>
              <a:ext uri="{FF2B5EF4-FFF2-40B4-BE49-F238E27FC236}">
                <a16:creationId xmlns:a16="http://schemas.microsoft.com/office/drawing/2014/main" id="{E12ABC60-AF57-3F89-6270-EF5EDC1D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39" y="194915"/>
            <a:ext cx="2689499" cy="868776"/>
          </a:xfrm>
          <a:prstGeom prst="rect">
            <a:avLst/>
          </a:prstGeom>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sz="2800" b="1" dirty="0">
                <a:solidFill>
                  <a:schemeClr val="accent6">
                    <a:lumMod val="75000"/>
                  </a:schemeClr>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C5E427FE-5F5E-8D5E-D547-053FA4A32C9B}"/>
              </a:ext>
            </a:extLst>
          </p:cNvPr>
          <p:cNvSpPr txBox="1"/>
          <p:nvPr/>
        </p:nvSpPr>
        <p:spPr>
          <a:xfrm>
            <a:off x="766233" y="1716506"/>
            <a:ext cx="10816168" cy="4524315"/>
          </a:xfrm>
          <a:prstGeom prst="rect">
            <a:avLst/>
          </a:prstGeom>
          <a:noFill/>
        </p:spPr>
        <p:txBody>
          <a:bodyPr wrap="square">
            <a:spAutoFit/>
          </a:bodyPr>
          <a:lstStyle/>
          <a:p>
            <a:pPr algn="just">
              <a:buNone/>
            </a:pPr>
            <a:r>
              <a:rPr lang="en-IN" sz="2400" dirty="0"/>
              <a:t>	BookBridge is a web-based library resource management system developed to simplify library operations through an interactive and centralized web application. The system provides separate interfaces for administrators and members. Administrators can manage book information, member records, and book circulation, while members can browse the library catalogue and check book availability. The application uses React.js to develop a dynamic user interface, PHP to process backend requests, and MySQL to store application data. BookBridge demonstrates the integration of frontend development, server-side programming, database connectivity, and client–server communication in a practical web application.</a:t>
            </a: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E721B2E-B8C7-05B9-5F04-C112E1E342F5}"/>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DCFB6370-4387-70BB-847F-1E34796587B4}"/>
              </a:ext>
            </a:extLst>
          </p:cNvPr>
          <p:cNvSpPr/>
          <p:nvPr/>
        </p:nvSpPr>
        <p:spPr bwMode="auto">
          <a:xfrm>
            <a:off x="8082951" y="1647645"/>
            <a:ext cx="3657600" cy="444260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1" i="0" u="none" strike="noStrike" normalizeH="0" baseline="0">
              <a:ln w="22225">
                <a:solidFill>
                  <a:schemeClr val="accent2"/>
                </a:solidFill>
                <a:prstDash val="solid"/>
              </a:ln>
              <a:solidFill>
                <a:schemeClr val="accent2">
                  <a:lumMod val="40000"/>
                  <a:lumOff val="60000"/>
                </a:schemeClr>
              </a:solidFill>
              <a:latin typeface="Verdana" pitchFamily="34" charset="0"/>
            </a:endParaRPr>
          </a:p>
        </p:txBody>
      </p:sp>
      <p:sp>
        <p:nvSpPr>
          <p:cNvPr id="2" name="Title 1">
            <a:extLst>
              <a:ext uri="{FF2B5EF4-FFF2-40B4-BE49-F238E27FC236}">
                <a16:creationId xmlns:a16="http://schemas.microsoft.com/office/drawing/2014/main" id="{1C1ED4AC-7B43-3850-D243-BCD132E2C20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PROBLEM STATEMENT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126AFD6-7888-AEE8-6558-75E0AF1E3648}"/>
              </a:ext>
            </a:extLst>
          </p:cNvPr>
          <p:cNvSpPr txBox="1"/>
          <p:nvPr/>
        </p:nvSpPr>
        <p:spPr>
          <a:xfrm>
            <a:off x="786062" y="1713861"/>
            <a:ext cx="7296889" cy="4524315"/>
          </a:xfrm>
          <a:prstGeom prst="rect">
            <a:avLst/>
          </a:prstGeom>
          <a:noFill/>
        </p:spPr>
        <p:txBody>
          <a:bodyPr wrap="square">
            <a:spAutoFit/>
          </a:bodyPr>
          <a:lstStyle/>
          <a:p>
            <a:pPr>
              <a:buNone/>
            </a:pPr>
            <a:r>
              <a:rPr lang="en-IN" sz="2400" b="1" dirty="0"/>
              <a:t>Existing Problem</a:t>
            </a:r>
          </a:p>
          <a:p>
            <a:pPr algn="just">
              <a:buNone/>
            </a:pPr>
            <a:r>
              <a:rPr lang="en-IN" sz="2400" dirty="0"/>
              <a:t>Managing library resources manually can be time-consuming and may lead to difficulties in maintaining accurate book and member records.</a:t>
            </a:r>
          </a:p>
          <a:p>
            <a:pPr>
              <a:buNone/>
            </a:pPr>
            <a:r>
              <a:rPr lang="en-IN" sz="2400" b="1" dirty="0"/>
              <a:t>Common challenges include:</a:t>
            </a:r>
          </a:p>
          <a:p>
            <a:pPr marL="342900" lvl="0" indent="-342900">
              <a:buFont typeface="Arial" panose="020B0604020202020204" pitchFamily="34" charset="0"/>
              <a:buChar char="•"/>
            </a:pPr>
            <a:r>
              <a:rPr lang="en-IN" sz="2400" dirty="0"/>
              <a:t>Difficulty searching for specific books. </a:t>
            </a:r>
          </a:p>
          <a:p>
            <a:pPr marL="342900" lvl="0" indent="-342900">
              <a:buFont typeface="Arial" panose="020B0604020202020204" pitchFamily="34" charset="0"/>
              <a:buChar char="•"/>
            </a:pPr>
            <a:r>
              <a:rPr lang="en-IN" sz="2400" dirty="0"/>
              <a:t>Time-consuming updates to library records. </a:t>
            </a:r>
          </a:p>
          <a:p>
            <a:pPr marL="342900" lvl="0" indent="-342900">
              <a:buFont typeface="Arial" panose="020B0604020202020204" pitchFamily="34" charset="0"/>
              <a:buChar char="•"/>
            </a:pPr>
            <a:r>
              <a:rPr lang="en-IN" sz="2400" dirty="0"/>
              <a:t>Challenges tracking book availability. </a:t>
            </a:r>
          </a:p>
          <a:p>
            <a:pPr marL="342900" lvl="0" indent="-342900">
              <a:buFont typeface="Arial" panose="020B0604020202020204" pitchFamily="34" charset="0"/>
              <a:buChar char="•"/>
            </a:pPr>
            <a:r>
              <a:rPr lang="en-IN" sz="2400" dirty="0"/>
              <a:t>Errors in issue and return records. </a:t>
            </a:r>
          </a:p>
          <a:p>
            <a:pPr marL="342900" lvl="0" indent="-342900">
              <a:buFont typeface="Arial" panose="020B0604020202020204" pitchFamily="34" charset="0"/>
              <a:buChar char="•"/>
            </a:pPr>
            <a:r>
              <a:rPr lang="en-IN" sz="2400" dirty="0"/>
              <a:t>Limited accessibility to library information. </a:t>
            </a:r>
          </a:p>
          <a:p>
            <a:pPr marL="342900" lvl="0" indent="-342900">
              <a:buFont typeface="Arial" panose="020B0604020202020204" pitchFamily="34" charset="0"/>
              <a:buChar char="•"/>
            </a:pPr>
            <a:r>
              <a:rPr lang="en-IN" sz="2400" dirty="0"/>
              <a:t>Lack of a unified web-based interface. </a:t>
            </a:r>
          </a:p>
        </p:txBody>
      </p:sp>
      <p:sp>
        <p:nvSpPr>
          <p:cNvPr id="11" name="TextBox 10">
            <a:extLst>
              <a:ext uri="{FF2B5EF4-FFF2-40B4-BE49-F238E27FC236}">
                <a16:creationId xmlns:a16="http://schemas.microsoft.com/office/drawing/2014/main" id="{2BD1D433-1956-EF43-A956-BB6F579732F3}"/>
              </a:ext>
            </a:extLst>
          </p:cNvPr>
          <p:cNvSpPr txBox="1"/>
          <p:nvPr/>
        </p:nvSpPr>
        <p:spPr>
          <a:xfrm>
            <a:off x="8213558" y="1844617"/>
            <a:ext cx="3449052" cy="4154984"/>
          </a:xfrm>
          <a:prstGeom prst="rect">
            <a:avLst/>
          </a:prstGeom>
          <a:noFill/>
        </p:spPr>
        <p:txBody>
          <a:bodyPr wrap="square">
            <a:spAutoFit/>
          </a:bodyPr>
          <a:lstStyle/>
          <a:p>
            <a:pPr algn="just">
              <a:buNone/>
            </a:pPr>
            <a:r>
              <a:rPr lang="en-IN" sz="2400" b="1" dirty="0"/>
              <a:t>Proposed Solution</a:t>
            </a:r>
          </a:p>
          <a:p>
            <a:pPr algn="just">
              <a:buNone/>
            </a:pPr>
            <a:r>
              <a:rPr lang="en-IN" sz="2400" dirty="0"/>
              <a:t>BookBridge provides a centralized web application that simplifies access to library information and supports digital management of books, members, and circulation activities.</a:t>
            </a:r>
          </a:p>
        </p:txBody>
      </p:sp>
    </p:spTree>
    <p:extLst>
      <p:ext uri="{BB962C8B-B14F-4D97-AF65-F5344CB8AC3E}">
        <p14:creationId xmlns:p14="http://schemas.microsoft.com/office/powerpoint/2010/main" val="425264290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8A5D21CB-E60A-06C9-649B-E914ED3CF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79EEF-5094-010E-C564-BACAED8FD423}"/>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PROJECT OBJECTIVES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7C26AE-C052-6428-EDDB-C71D9C4A7191}"/>
              </a:ext>
            </a:extLst>
          </p:cNvPr>
          <p:cNvSpPr txBox="1"/>
          <p:nvPr/>
        </p:nvSpPr>
        <p:spPr>
          <a:xfrm>
            <a:off x="946481" y="1864942"/>
            <a:ext cx="10487752" cy="3785652"/>
          </a:xfrm>
          <a:prstGeom prst="rect">
            <a:avLst/>
          </a:prstGeom>
          <a:noFill/>
        </p:spPr>
        <p:txBody>
          <a:bodyPr wrap="square">
            <a:spAutoFit/>
          </a:bodyPr>
          <a:lstStyle/>
          <a:p>
            <a:pPr marL="342900" lvl="0" indent="-342900">
              <a:buFont typeface="Wingdings" panose="05000000000000000000" pitchFamily="2" charset="2"/>
              <a:buChar char="q"/>
            </a:pPr>
            <a:r>
              <a:rPr lang="en-IN" sz="2400" dirty="0"/>
              <a:t>Develop an interactive and user-friendly library website. </a:t>
            </a:r>
          </a:p>
          <a:p>
            <a:pPr marL="342900" lvl="0" indent="-342900">
              <a:buFont typeface="Wingdings" panose="05000000000000000000" pitchFamily="2" charset="2"/>
              <a:buChar char="q"/>
            </a:pPr>
            <a:r>
              <a:rPr lang="en-IN" sz="2400" dirty="0"/>
              <a:t>Implement responsive web pages using modern frontend technologies. </a:t>
            </a:r>
          </a:p>
          <a:p>
            <a:pPr marL="342900" lvl="0" indent="-342900">
              <a:buFont typeface="Wingdings" panose="05000000000000000000" pitchFamily="2" charset="2"/>
              <a:buChar char="q"/>
            </a:pPr>
            <a:r>
              <a:rPr lang="en-IN" sz="2400" dirty="0"/>
              <a:t>Create separate interfaces for administrators and members. </a:t>
            </a:r>
          </a:p>
          <a:p>
            <a:pPr marL="342900" lvl="0" indent="-342900">
              <a:buFont typeface="Wingdings" panose="05000000000000000000" pitchFamily="2" charset="2"/>
              <a:buChar char="q"/>
            </a:pPr>
            <a:r>
              <a:rPr lang="en-IN" sz="2400" dirty="0"/>
              <a:t>Implement user authentication. </a:t>
            </a:r>
          </a:p>
          <a:p>
            <a:pPr marL="342900" lvl="0" indent="-342900">
              <a:buFont typeface="Wingdings" panose="05000000000000000000" pitchFamily="2" charset="2"/>
              <a:buChar char="q"/>
            </a:pPr>
            <a:r>
              <a:rPr lang="en-IN" sz="2400" dirty="0"/>
              <a:t>Provide book searching and availability information. </a:t>
            </a:r>
          </a:p>
          <a:p>
            <a:pPr marL="342900" lvl="0" indent="-342900">
              <a:buFont typeface="Wingdings" panose="05000000000000000000" pitchFamily="2" charset="2"/>
              <a:buChar char="q"/>
            </a:pPr>
            <a:r>
              <a:rPr lang="en-IN" sz="2400" dirty="0"/>
              <a:t>Develop backend functionality using PHP. </a:t>
            </a:r>
          </a:p>
          <a:p>
            <a:pPr marL="342900" lvl="0" indent="-342900">
              <a:buFont typeface="Wingdings" panose="05000000000000000000" pitchFamily="2" charset="2"/>
              <a:buChar char="q"/>
            </a:pPr>
            <a:r>
              <a:rPr lang="en-IN" sz="2400" dirty="0"/>
              <a:t>Integrate MySQL for persistent data storage. </a:t>
            </a:r>
          </a:p>
          <a:p>
            <a:pPr marL="342900" lvl="0" indent="-342900">
              <a:buFont typeface="Wingdings" panose="05000000000000000000" pitchFamily="2" charset="2"/>
              <a:buChar char="q"/>
            </a:pPr>
            <a:r>
              <a:rPr lang="en-IN" sz="2400" dirty="0"/>
              <a:t>Implement book issue and return operations. </a:t>
            </a:r>
          </a:p>
          <a:p>
            <a:pPr marL="342900" lvl="0" indent="-342900">
              <a:buFont typeface="Wingdings" panose="05000000000000000000" pitchFamily="2" charset="2"/>
              <a:buChar char="q"/>
            </a:pPr>
            <a:r>
              <a:rPr lang="en-IN" sz="2400" dirty="0"/>
              <a:t>Test the functionality and usability of the application.</a:t>
            </a:r>
          </a:p>
        </p:txBody>
      </p:sp>
    </p:spTree>
    <p:extLst>
      <p:ext uri="{BB962C8B-B14F-4D97-AF65-F5344CB8AC3E}">
        <p14:creationId xmlns:p14="http://schemas.microsoft.com/office/powerpoint/2010/main" val="74671529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757CF5D-142D-473C-E195-36EB23B9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ED407-BAD9-643C-0875-B881EC2A5E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&amp; TECHNOLOGIES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7F5649-1329-E9A0-92EE-5156008061E1}"/>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graphicFrame>
        <p:nvGraphicFramePr>
          <p:cNvPr id="44" name="Table 43">
            <a:extLst>
              <a:ext uri="{FF2B5EF4-FFF2-40B4-BE49-F238E27FC236}">
                <a16:creationId xmlns:a16="http://schemas.microsoft.com/office/drawing/2014/main" id="{44CEE338-E4BE-8348-907A-4F24320171CB}"/>
              </a:ext>
            </a:extLst>
          </p:cNvPr>
          <p:cNvGraphicFramePr>
            <a:graphicFrameLocks noGrp="1"/>
          </p:cNvGraphicFramePr>
          <p:nvPr>
            <p:extLst>
              <p:ext uri="{D42A27DB-BD31-4B8C-83A1-F6EECF244321}">
                <p14:modId xmlns:p14="http://schemas.microsoft.com/office/powerpoint/2010/main" val="2008409461"/>
              </p:ext>
            </p:extLst>
          </p:nvPr>
        </p:nvGraphicFramePr>
        <p:xfrm>
          <a:off x="724620" y="1560896"/>
          <a:ext cx="10783020" cy="4689237"/>
        </p:xfrm>
        <a:graphic>
          <a:graphicData uri="http://schemas.openxmlformats.org/drawingml/2006/table">
            <a:tbl>
              <a:tblPr firstRow="1">
                <a:tableStyleId>{21E4AEA4-8DFA-4A89-87EB-49C32662AFE0}</a:tableStyleId>
              </a:tblPr>
              <a:tblGrid>
                <a:gridCol w="3234906">
                  <a:extLst>
                    <a:ext uri="{9D8B030D-6E8A-4147-A177-3AD203B41FA5}">
                      <a16:colId xmlns:a16="http://schemas.microsoft.com/office/drawing/2014/main" val="2332394780"/>
                    </a:ext>
                  </a:extLst>
                </a:gridCol>
                <a:gridCol w="2881221">
                  <a:extLst>
                    <a:ext uri="{9D8B030D-6E8A-4147-A177-3AD203B41FA5}">
                      <a16:colId xmlns:a16="http://schemas.microsoft.com/office/drawing/2014/main" val="3743553105"/>
                    </a:ext>
                  </a:extLst>
                </a:gridCol>
                <a:gridCol w="4666893">
                  <a:extLst>
                    <a:ext uri="{9D8B030D-6E8A-4147-A177-3AD203B41FA5}">
                      <a16:colId xmlns:a16="http://schemas.microsoft.com/office/drawing/2014/main" val="3192957618"/>
                    </a:ext>
                  </a:extLst>
                </a:gridCol>
              </a:tblGrid>
              <a:tr h="262597">
                <a:tc>
                  <a:txBody>
                    <a:bodyPr/>
                    <a:lstStyle/>
                    <a:p>
                      <a:pPr algn="ctr">
                        <a:buNone/>
                      </a:pPr>
                      <a:r>
                        <a:rPr lang="en-IN" sz="1600" dirty="0"/>
                        <a:t>Category</a:t>
                      </a:r>
                    </a:p>
                  </a:txBody>
                  <a:tcPr marL="65649" marR="65649" marT="32825" marB="32825" anchor="ctr"/>
                </a:tc>
                <a:tc>
                  <a:txBody>
                    <a:bodyPr/>
                    <a:lstStyle/>
                    <a:p>
                      <a:pPr algn="ctr">
                        <a:buNone/>
                      </a:pPr>
                      <a:r>
                        <a:rPr lang="en-IN" sz="1600" dirty="0"/>
                        <a:t>Technology</a:t>
                      </a:r>
                    </a:p>
                  </a:txBody>
                  <a:tcPr marL="65649" marR="65649" marT="32825" marB="32825" anchor="ctr"/>
                </a:tc>
                <a:tc>
                  <a:txBody>
                    <a:bodyPr/>
                    <a:lstStyle/>
                    <a:p>
                      <a:pPr algn="ctr">
                        <a:buNone/>
                      </a:pPr>
                      <a:r>
                        <a:rPr lang="en-IN" sz="1600" dirty="0"/>
                        <a:t>Purpose</a:t>
                      </a:r>
                    </a:p>
                  </a:txBody>
                  <a:tcPr marL="65649" marR="65649" marT="32825" marB="32825" anchor="ctr"/>
                </a:tc>
                <a:extLst>
                  <a:ext uri="{0D108BD9-81ED-4DB2-BD59-A6C34878D82A}">
                    <a16:rowId xmlns:a16="http://schemas.microsoft.com/office/drawing/2014/main" val="4088735082"/>
                  </a:ext>
                </a:extLst>
              </a:tr>
              <a:tr h="459545">
                <a:tc>
                  <a:txBody>
                    <a:bodyPr/>
                    <a:lstStyle/>
                    <a:p>
                      <a:pPr>
                        <a:buNone/>
                      </a:pPr>
                      <a:r>
                        <a:rPr lang="en-IN" sz="1600"/>
                        <a:t>Frontend</a:t>
                      </a:r>
                    </a:p>
                  </a:txBody>
                  <a:tcPr marL="65649" marR="65649" marT="32825" marB="32825" anchor="ctr"/>
                </a:tc>
                <a:tc>
                  <a:txBody>
                    <a:bodyPr/>
                    <a:lstStyle/>
                    <a:p>
                      <a:pPr>
                        <a:buNone/>
                      </a:pPr>
                      <a:r>
                        <a:rPr lang="en-IN" sz="1600"/>
                        <a:t>React.js, HTML5, CSS3, JavaScript</a:t>
                      </a:r>
                    </a:p>
                  </a:txBody>
                  <a:tcPr marL="65649" marR="65649" marT="32825" marB="32825" anchor="ctr"/>
                </a:tc>
                <a:tc>
                  <a:txBody>
                    <a:bodyPr/>
                    <a:lstStyle/>
                    <a:p>
                      <a:pPr>
                        <a:buNone/>
                      </a:pPr>
                      <a:r>
                        <a:rPr lang="en-IN" sz="1600"/>
                        <a:t>User interface and interactive web pages</a:t>
                      </a:r>
                    </a:p>
                  </a:txBody>
                  <a:tcPr marL="65649" marR="65649" marT="32825" marB="32825" anchor="ctr"/>
                </a:tc>
                <a:extLst>
                  <a:ext uri="{0D108BD9-81ED-4DB2-BD59-A6C34878D82A}">
                    <a16:rowId xmlns:a16="http://schemas.microsoft.com/office/drawing/2014/main" val="2555726125"/>
                  </a:ext>
                </a:extLst>
              </a:tr>
              <a:tr h="656492">
                <a:tc>
                  <a:txBody>
                    <a:bodyPr/>
                    <a:lstStyle/>
                    <a:p>
                      <a:pPr>
                        <a:buNone/>
                      </a:pPr>
                      <a:r>
                        <a:rPr lang="en-IN" sz="1600"/>
                        <a:t>Backend</a:t>
                      </a:r>
                    </a:p>
                  </a:txBody>
                  <a:tcPr marL="65649" marR="65649" marT="32825" marB="32825" anchor="ctr"/>
                </a:tc>
                <a:tc>
                  <a:txBody>
                    <a:bodyPr/>
                    <a:lstStyle/>
                    <a:p>
                      <a:pPr>
                        <a:buNone/>
                      </a:pPr>
                      <a:r>
                        <a:rPr lang="en-IN" sz="1600"/>
                        <a:t>PHP</a:t>
                      </a:r>
                    </a:p>
                  </a:txBody>
                  <a:tcPr marL="65649" marR="65649" marT="32825" marB="32825" anchor="ctr"/>
                </a:tc>
                <a:tc>
                  <a:txBody>
                    <a:bodyPr/>
                    <a:lstStyle/>
                    <a:p>
                      <a:pPr>
                        <a:buNone/>
                      </a:pPr>
                      <a:r>
                        <a:rPr lang="en-IN" sz="1600"/>
                        <a:t>Server-side logic, authentication, and request processing</a:t>
                      </a:r>
                    </a:p>
                  </a:txBody>
                  <a:tcPr marL="65649" marR="65649" marT="32825" marB="32825" anchor="ctr"/>
                </a:tc>
                <a:extLst>
                  <a:ext uri="{0D108BD9-81ED-4DB2-BD59-A6C34878D82A}">
                    <a16:rowId xmlns:a16="http://schemas.microsoft.com/office/drawing/2014/main" val="427108031"/>
                  </a:ext>
                </a:extLst>
              </a:tr>
              <a:tr h="262597">
                <a:tc>
                  <a:txBody>
                    <a:bodyPr/>
                    <a:lstStyle/>
                    <a:p>
                      <a:pPr>
                        <a:buNone/>
                      </a:pPr>
                      <a:r>
                        <a:rPr lang="en-IN" sz="1600"/>
                        <a:t>Web Server</a:t>
                      </a:r>
                    </a:p>
                  </a:txBody>
                  <a:tcPr marL="65649" marR="65649" marT="32825" marB="32825" anchor="ctr"/>
                </a:tc>
                <a:tc>
                  <a:txBody>
                    <a:bodyPr/>
                    <a:lstStyle/>
                    <a:p>
                      <a:pPr>
                        <a:buNone/>
                      </a:pPr>
                      <a:r>
                        <a:rPr lang="en-IN" sz="1600"/>
                        <a:t>Apache (XAMPP)</a:t>
                      </a:r>
                    </a:p>
                  </a:txBody>
                  <a:tcPr marL="65649" marR="65649" marT="32825" marB="32825" anchor="ctr"/>
                </a:tc>
                <a:tc>
                  <a:txBody>
                    <a:bodyPr/>
                    <a:lstStyle/>
                    <a:p>
                      <a:pPr>
                        <a:buNone/>
                      </a:pPr>
                      <a:r>
                        <a:rPr lang="en-IN" sz="1600"/>
                        <a:t>Running the PHP backend</a:t>
                      </a:r>
                    </a:p>
                  </a:txBody>
                  <a:tcPr marL="65649" marR="65649" marT="32825" marB="32825" anchor="ctr"/>
                </a:tc>
                <a:extLst>
                  <a:ext uri="{0D108BD9-81ED-4DB2-BD59-A6C34878D82A}">
                    <a16:rowId xmlns:a16="http://schemas.microsoft.com/office/drawing/2014/main" val="1051748460"/>
                  </a:ext>
                </a:extLst>
              </a:tr>
              <a:tr h="459545">
                <a:tc>
                  <a:txBody>
                    <a:bodyPr/>
                    <a:lstStyle/>
                    <a:p>
                      <a:pPr>
                        <a:buNone/>
                      </a:pPr>
                      <a:r>
                        <a:rPr lang="en-IN" sz="1600" dirty="0"/>
                        <a:t>Database</a:t>
                      </a:r>
                    </a:p>
                  </a:txBody>
                  <a:tcPr marL="65649" marR="65649" marT="32825" marB="32825" anchor="ctr"/>
                </a:tc>
                <a:tc>
                  <a:txBody>
                    <a:bodyPr/>
                    <a:lstStyle/>
                    <a:p>
                      <a:pPr>
                        <a:buNone/>
                      </a:pPr>
                      <a:r>
                        <a:rPr lang="en-IN" sz="1600" dirty="0"/>
                        <a:t>MySQL</a:t>
                      </a:r>
                    </a:p>
                  </a:txBody>
                  <a:tcPr marL="65649" marR="65649" marT="32825" marB="32825" anchor="ctr"/>
                </a:tc>
                <a:tc>
                  <a:txBody>
                    <a:bodyPr/>
                    <a:lstStyle/>
                    <a:p>
                      <a:pPr>
                        <a:buNone/>
                      </a:pPr>
                      <a:r>
                        <a:rPr lang="en-IN" sz="1600"/>
                        <a:t>Storing book, user, and circulation data</a:t>
                      </a:r>
                    </a:p>
                  </a:txBody>
                  <a:tcPr marL="65649" marR="65649" marT="32825" marB="32825" anchor="ctr"/>
                </a:tc>
                <a:extLst>
                  <a:ext uri="{0D108BD9-81ED-4DB2-BD59-A6C34878D82A}">
                    <a16:rowId xmlns:a16="http://schemas.microsoft.com/office/drawing/2014/main" val="3763411832"/>
                  </a:ext>
                </a:extLst>
              </a:tr>
              <a:tr h="262597">
                <a:tc>
                  <a:txBody>
                    <a:bodyPr/>
                    <a:lstStyle/>
                    <a:p>
                      <a:pPr>
                        <a:buNone/>
                      </a:pPr>
                      <a:r>
                        <a:rPr lang="en-IN" sz="1600"/>
                        <a:t>Database Management Tool</a:t>
                      </a:r>
                    </a:p>
                  </a:txBody>
                  <a:tcPr marL="65649" marR="65649" marT="32825" marB="32825" anchor="ctr"/>
                </a:tc>
                <a:tc>
                  <a:txBody>
                    <a:bodyPr/>
                    <a:lstStyle/>
                    <a:p>
                      <a:pPr>
                        <a:buNone/>
                      </a:pPr>
                      <a:r>
                        <a:rPr lang="en-IN" sz="1600"/>
                        <a:t>phpMyAdmin</a:t>
                      </a:r>
                    </a:p>
                  </a:txBody>
                  <a:tcPr marL="65649" marR="65649" marT="32825" marB="32825" anchor="ctr"/>
                </a:tc>
                <a:tc>
                  <a:txBody>
                    <a:bodyPr/>
                    <a:lstStyle/>
                    <a:p>
                      <a:pPr>
                        <a:buNone/>
                      </a:pPr>
                      <a:r>
                        <a:rPr lang="en-IN" sz="1600"/>
                        <a:t>Managing the database</a:t>
                      </a:r>
                    </a:p>
                  </a:txBody>
                  <a:tcPr marL="65649" marR="65649" marT="32825" marB="32825" anchor="ctr"/>
                </a:tc>
                <a:extLst>
                  <a:ext uri="{0D108BD9-81ED-4DB2-BD59-A6C34878D82A}">
                    <a16:rowId xmlns:a16="http://schemas.microsoft.com/office/drawing/2014/main" val="3344689954"/>
                  </a:ext>
                </a:extLst>
              </a:tr>
              <a:tr h="262597">
                <a:tc>
                  <a:txBody>
                    <a:bodyPr/>
                    <a:lstStyle/>
                    <a:p>
                      <a:pPr>
                        <a:buNone/>
                      </a:pPr>
                      <a:r>
                        <a:rPr lang="en-IN" sz="1600"/>
                        <a:t>Development Environment</a:t>
                      </a:r>
                    </a:p>
                  </a:txBody>
                  <a:tcPr marL="65649" marR="65649" marT="32825" marB="32825" anchor="ctr"/>
                </a:tc>
                <a:tc>
                  <a:txBody>
                    <a:bodyPr/>
                    <a:lstStyle/>
                    <a:p>
                      <a:pPr>
                        <a:buNone/>
                      </a:pPr>
                      <a:r>
                        <a:rPr lang="en-IN" sz="1600"/>
                        <a:t>Visual Studio Code</a:t>
                      </a:r>
                    </a:p>
                  </a:txBody>
                  <a:tcPr marL="65649" marR="65649" marT="32825" marB="32825" anchor="ctr"/>
                </a:tc>
                <a:tc>
                  <a:txBody>
                    <a:bodyPr/>
                    <a:lstStyle/>
                    <a:p>
                      <a:pPr>
                        <a:buNone/>
                      </a:pPr>
                      <a:r>
                        <a:rPr lang="en-IN" sz="1600"/>
                        <a:t>Coding and debugging</a:t>
                      </a:r>
                    </a:p>
                  </a:txBody>
                  <a:tcPr marL="65649" marR="65649" marT="32825" marB="32825" anchor="ctr"/>
                </a:tc>
                <a:extLst>
                  <a:ext uri="{0D108BD9-81ED-4DB2-BD59-A6C34878D82A}">
                    <a16:rowId xmlns:a16="http://schemas.microsoft.com/office/drawing/2014/main" val="800500969"/>
                  </a:ext>
                </a:extLst>
              </a:tr>
              <a:tr h="459545">
                <a:tc>
                  <a:txBody>
                    <a:bodyPr/>
                    <a:lstStyle/>
                    <a:p>
                      <a:pPr>
                        <a:buNone/>
                      </a:pPr>
                      <a:r>
                        <a:rPr lang="en-IN" sz="1600"/>
                        <a:t>Runtime and Package Manager</a:t>
                      </a:r>
                    </a:p>
                  </a:txBody>
                  <a:tcPr marL="65649" marR="65649" marT="32825" marB="32825" anchor="ctr"/>
                </a:tc>
                <a:tc>
                  <a:txBody>
                    <a:bodyPr/>
                    <a:lstStyle/>
                    <a:p>
                      <a:pPr>
                        <a:buNone/>
                      </a:pPr>
                      <a:r>
                        <a:rPr lang="en-IN" sz="1600"/>
                        <a:t>Node.js and npm</a:t>
                      </a:r>
                    </a:p>
                  </a:txBody>
                  <a:tcPr marL="65649" marR="65649" marT="32825" marB="32825" anchor="ctr"/>
                </a:tc>
                <a:tc>
                  <a:txBody>
                    <a:bodyPr/>
                    <a:lstStyle/>
                    <a:p>
                      <a:pPr>
                        <a:buNone/>
                      </a:pPr>
                      <a:r>
                        <a:rPr lang="en-IN" sz="1600"/>
                        <a:t>Running React and managing packages</a:t>
                      </a:r>
                    </a:p>
                  </a:txBody>
                  <a:tcPr marL="65649" marR="65649" marT="32825" marB="32825" anchor="ctr"/>
                </a:tc>
                <a:extLst>
                  <a:ext uri="{0D108BD9-81ED-4DB2-BD59-A6C34878D82A}">
                    <a16:rowId xmlns:a16="http://schemas.microsoft.com/office/drawing/2014/main" val="2831165825"/>
                  </a:ext>
                </a:extLst>
              </a:tr>
              <a:tr h="459545">
                <a:tc>
                  <a:txBody>
                    <a:bodyPr/>
                    <a:lstStyle/>
                    <a:p>
                      <a:pPr>
                        <a:buNone/>
                      </a:pPr>
                      <a:r>
                        <a:rPr lang="en-IN" sz="1600"/>
                        <a:t>Build Tool</a:t>
                      </a:r>
                    </a:p>
                  </a:txBody>
                  <a:tcPr marL="65649" marR="65649" marT="32825" marB="32825" anchor="ctr"/>
                </a:tc>
                <a:tc>
                  <a:txBody>
                    <a:bodyPr/>
                    <a:lstStyle/>
                    <a:p>
                      <a:pPr>
                        <a:buNone/>
                      </a:pPr>
                      <a:r>
                        <a:rPr lang="en-IN" sz="1600"/>
                        <a:t>Vite</a:t>
                      </a:r>
                    </a:p>
                  </a:txBody>
                  <a:tcPr marL="65649" marR="65649" marT="32825" marB="32825" anchor="ctr"/>
                </a:tc>
                <a:tc>
                  <a:txBody>
                    <a:bodyPr/>
                    <a:lstStyle/>
                    <a:p>
                      <a:pPr>
                        <a:buNone/>
                      </a:pPr>
                      <a:r>
                        <a:rPr lang="en-IN" sz="1600"/>
                        <a:t>Frontend development server and build</a:t>
                      </a:r>
                    </a:p>
                  </a:txBody>
                  <a:tcPr marL="65649" marR="65649" marT="32825" marB="32825" anchor="ctr"/>
                </a:tc>
                <a:extLst>
                  <a:ext uri="{0D108BD9-81ED-4DB2-BD59-A6C34878D82A}">
                    <a16:rowId xmlns:a16="http://schemas.microsoft.com/office/drawing/2014/main" val="443731491"/>
                  </a:ext>
                </a:extLst>
              </a:tr>
              <a:tr h="459545">
                <a:tc>
                  <a:txBody>
                    <a:bodyPr/>
                    <a:lstStyle/>
                    <a:p>
                      <a:pPr>
                        <a:buNone/>
                      </a:pPr>
                      <a:r>
                        <a:rPr lang="en-IN" sz="1600"/>
                        <a:t>API Communication</a:t>
                      </a:r>
                    </a:p>
                  </a:txBody>
                  <a:tcPr marL="65649" marR="65649" marT="32825" marB="32825" anchor="ctr"/>
                </a:tc>
                <a:tc>
                  <a:txBody>
                    <a:bodyPr/>
                    <a:lstStyle/>
                    <a:p>
                      <a:pPr>
                        <a:buNone/>
                      </a:pPr>
                      <a:r>
                        <a:rPr lang="en-IN" sz="1600"/>
                        <a:t>PHP API</a:t>
                      </a:r>
                    </a:p>
                  </a:txBody>
                  <a:tcPr marL="65649" marR="65649" marT="32825" marB="32825" anchor="ctr"/>
                </a:tc>
                <a:tc>
                  <a:txBody>
                    <a:bodyPr/>
                    <a:lstStyle/>
                    <a:p>
                      <a:pPr>
                        <a:buNone/>
                      </a:pPr>
                      <a:r>
                        <a:rPr lang="en-IN" sz="1600"/>
                        <a:t>Connecting frontend and backend</a:t>
                      </a:r>
                    </a:p>
                  </a:txBody>
                  <a:tcPr marL="65649" marR="65649" marT="32825" marB="32825" anchor="ctr"/>
                </a:tc>
                <a:extLst>
                  <a:ext uri="{0D108BD9-81ED-4DB2-BD59-A6C34878D82A}">
                    <a16:rowId xmlns:a16="http://schemas.microsoft.com/office/drawing/2014/main" val="1987109465"/>
                  </a:ext>
                </a:extLst>
              </a:tr>
              <a:tr h="262597">
                <a:tc>
                  <a:txBody>
                    <a:bodyPr/>
                    <a:lstStyle/>
                    <a:p>
                      <a:pPr>
                        <a:buNone/>
                      </a:pPr>
                      <a:r>
                        <a:rPr lang="en-IN" sz="1600"/>
                        <a:t>Version Control</a:t>
                      </a:r>
                    </a:p>
                  </a:txBody>
                  <a:tcPr marL="65649" marR="65649" marT="32825" marB="32825" anchor="ctr"/>
                </a:tc>
                <a:tc>
                  <a:txBody>
                    <a:bodyPr/>
                    <a:lstStyle/>
                    <a:p>
                      <a:pPr>
                        <a:buNone/>
                      </a:pPr>
                      <a:r>
                        <a:rPr lang="en-IN" sz="1600" dirty="0"/>
                        <a:t>Git</a:t>
                      </a:r>
                    </a:p>
                  </a:txBody>
                  <a:tcPr marL="65649" marR="65649" marT="32825" marB="32825" anchor="ctr"/>
                </a:tc>
                <a:tc>
                  <a:txBody>
                    <a:bodyPr/>
                    <a:lstStyle/>
                    <a:p>
                      <a:pPr>
                        <a:buNone/>
                      </a:pPr>
                      <a:r>
                        <a:rPr lang="en-IN" sz="1600" dirty="0"/>
                        <a:t>Tracking code changes</a:t>
                      </a:r>
                    </a:p>
                  </a:txBody>
                  <a:tcPr marL="65649" marR="65649" marT="32825" marB="32825" anchor="ctr"/>
                </a:tc>
                <a:extLst>
                  <a:ext uri="{0D108BD9-81ED-4DB2-BD59-A6C34878D82A}">
                    <a16:rowId xmlns:a16="http://schemas.microsoft.com/office/drawing/2014/main" val="3121114289"/>
                  </a:ext>
                </a:extLst>
              </a:tr>
            </a:tbl>
          </a:graphicData>
        </a:graphic>
      </p:graphicFrame>
    </p:spTree>
    <p:extLst>
      <p:ext uri="{BB962C8B-B14F-4D97-AF65-F5344CB8AC3E}">
        <p14:creationId xmlns:p14="http://schemas.microsoft.com/office/powerpoint/2010/main" val="361721638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BADCFA9D-39F5-C5DF-6DBA-83FBB0A5A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D0105-019F-C1A0-2E93-8A661F7BB14C}"/>
              </a:ext>
            </a:extLst>
          </p:cNvPr>
          <p:cNvSpPr>
            <a:spLocks noGrp="1"/>
          </p:cNvSpPr>
          <p:nvPr>
            <p:ph type="title"/>
          </p:nvPr>
        </p:nvSpPr>
        <p:spPr/>
        <p:txBody>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LITERATURE SURVEY</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3284B31-4940-F1D5-11E9-B1EDA3CE73D2}"/>
              </a:ext>
            </a:extLst>
          </p:cNvPr>
          <p:cNvGraphicFramePr>
            <a:graphicFrameLocks noGrp="1"/>
          </p:cNvGraphicFramePr>
          <p:nvPr>
            <p:extLst>
              <p:ext uri="{D42A27DB-BD31-4B8C-83A1-F6EECF244321}">
                <p14:modId xmlns:p14="http://schemas.microsoft.com/office/powerpoint/2010/main" val="1960734545"/>
              </p:ext>
            </p:extLst>
          </p:nvPr>
        </p:nvGraphicFramePr>
        <p:xfrm>
          <a:off x="1086250" y="1716441"/>
          <a:ext cx="10019500" cy="4427220"/>
        </p:xfrm>
        <a:graphic>
          <a:graphicData uri="http://schemas.openxmlformats.org/drawingml/2006/table">
            <a:tbl>
              <a:tblPr firstRow="1">
                <a:tableStyleId>{93296810-A885-4BE3-A3E7-6D5BEEA58F35}</a:tableStyleId>
              </a:tblPr>
              <a:tblGrid>
                <a:gridCol w="759126">
                  <a:extLst>
                    <a:ext uri="{9D8B030D-6E8A-4147-A177-3AD203B41FA5}">
                      <a16:colId xmlns:a16="http://schemas.microsoft.com/office/drawing/2014/main" val="277775758"/>
                    </a:ext>
                  </a:extLst>
                </a:gridCol>
                <a:gridCol w="2199735">
                  <a:extLst>
                    <a:ext uri="{9D8B030D-6E8A-4147-A177-3AD203B41FA5}">
                      <a16:colId xmlns:a16="http://schemas.microsoft.com/office/drawing/2014/main" val="934048098"/>
                    </a:ext>
                  </a:extLst>
                </a:gridCol>
                <a:gridCol w="2743200">
                  <a:extLst>
                    <a:ext uri="{9D8B030D-6E8A-4147-A177-3AD203B41FA5}">
                      <a16:colId xmlns:a16="http://schemas.microsoft.com/office/drawing/2014/main" val="2943647382"/>
                    </a:ext>
                  </a:extLst>
                </a:gridCol>
                <a:gridCol w="4317439">
                  <a:extLst>
                    <a:ext uri="{9D8B030D-6E8A-4147-A177-3AD203B41FA5}">
                      <a16:colId xmlns:a16="http://schemas.microsoft.com/office/drawing/2014/main" val="2536899085"/>
                    </a:ext>
                  </a:extLst>
                </a:gridCol>
              </a:tblGrid>
              <a:tr h="213360">
                <a:tc>
                  <a:txBody>
                    <a:bodyPr/>
                    <a:lstStyle/>
                    <a:p>
                      <a:pPr>
                        <a:buNone/>
                      </a:pPr>
                      <a:r>
                        <a:rPr lang="en-IN" sz="1400"/>
                        <a:t>S.No.</a:t>
                      </a:r>
                    </a:p>
                  </a:txBody>
                  <a:tcPr marL="53340" marR="53340" marT="26670" marB="26670" anchor="ctr"/>
                </a:tc>
                <a:tc>
                  <a:txBody>
                    <a:bodyPr/>
                    <a:lstStyle/>
                    <a:p>
                      <a:pPr>
                        <a:buNone/>
                      </a:pPr>
                      <a:r>
                        <a:rPr lang="en-IN" sz="1400"/>
                        <a:t>Author / Year</a:t>
                      </a:r>
                    </a:p>
                  </a:txBody>
                  <a:tcPr marL="53340" marR="53340" marT="26670" marB="26670" anchor="ctr"/>
                </a:tc>
                <a:tc>
                  <a:txBody>
                    <a:bodyPr/>
                    <a:lstStyle/>
                    <a:p>
                      <a:pPr>
                        <a:buNone/>
                      </a:pPr>
                      <a:r>
                        <a:rPr lang="en-IN" sz="1400"/>
                        <a:t>Study</a:t>
                      </a:r>
                    </a:p>
                  </a:txBody>
                  <a:tcPr marL="53340" marR="53340" marT="26670" marB="26670" anchor="ctr"/>
                </a:tc>
                <a:tc>
                  <a:txBody>
                    <a:bodyPr/>
                    <a:lstStyle/>
                    <a:p>
                      <a:pPr>
                        <a:buNone/>
                      </a:pPr>
                      <a:r>
                        <a:rPr lang="en-IN" sz="1400"/>
                        <a:t>Key Findings</a:t>
                      </a:r>
                    </a:p>
                  </a:txBody>
                  <a:tcPr marL="53340" marR="53340" marT="26670" marB="26670" anchor="ctr"/>
                </a:tc>
                <a:extLst>
                  <a:ext uri="{0D108BD9-81ED-4DB2-BD59-A6C34878D82A}">
                    <a16:rowId xmlns:a16="http://schemas.microsoft.com/office/drawing/2014/main" val="477749253"/>
                  </a:ext>
                </a:extLst>
              </a:tr>
              <a:tr h="1013460">
                <a:tc>
                  <a:txBody>
                    <a:bodyPr/>
                    <a:lstStyle/>
                    <a:p>
                      <a:pPr>
                        <a:buNone/>
                      </a:pPr>
                      <a:r>
                        <a:rPr lang="en-IN" sz="1400"/>
                        <a:t>1</a:t>
                      </a:r>
                    </a:p>
                  </a:txBody>
                  <a:tcPr marL="53340" marR="53340" marT="26670" marB="26670" anchor="ctr"/>
                </a:tc>
                <a:tc>
                  <a:txBody>
                    <a:bodyPr/>
                    <a:lstStyle/>
                    <a:p>
                      <a:pPr>
                        <a:buNone/>
                      </a:pPr>
                      <a:r>
                        <a:rPr lang="en-IN" sz="1400" dirty="0"/>
                        <a:t>Shailendra K. &amp; Namrata Rai (2011)</a:t>
                      </a:r>
                    </a:p>
                  </a:txBody>
                  <a:tcPr marL="53340" marR="53340" marT="26670" marB="26670" anchor="ctr"/>
                </a:tc>
                <a:tc>
                  <a:txBody>
                    <a:bodyPr/>
                    <a:lstStyle/>
                    <a:p>
                      <a:pPr>
                        <a:buNone/>
                      </a:pPr>
                      <a:r>
                        <a:rPr lang="en-IN" sz="1400" dirty="0"/>
                        <a:t>Web Interface in Library Management Systems</a:t>
                      </a:r>
                    </a:p>
                  </a:txBody>
                  <a:tcPr marL="53340" marR="53340" marT="26670" marB="26670" anchor="ctr"/>
                </a:tc>
                <a:tc>
                  <a:txBody>
                    <a:bodyPr/>
                    <a:lstStyle/>
                    <a:p>
                      <a:pPr>
                        <a:buNone/>
                      </a:pPr>
                      <a:r>
                        <a:rPr lang="en-IN" sz="1400"/>
                        <a:t>Discussed web-based library interfaces, databases, security, and library automation. (</a:t>
                      </a:r>
                      <a:r>
                        <a:rPr lang="en-IN" sz="1400">
                          <a:hlinkClick r:id="rId4" tooltip="(PDF) Literature Review of Research on Web Interface in Library Management Software Systems"/>
                        </a:rPr>
                        <a:t>ResearchGate</a:t>
                      </a:r>
                      <a:r>
                        <a:rPr lang="en-IN" sz="1400"/>
                        <a:t>)</a:t>
                      </a:r>
                    </a:p>
                  </a:txBody>
                  <a:tcPr marL="53340" marR="53340" marT="26670" marB="26670" anchor="ctr"/>
                </a:tc>
                <a:extLst>
                  <a:ext uri="{0D108BD9-81ED-4DB2-BD59-A6C34878D82A}">
                    <a16:rowId xmlns:a16="http://schemas.microsoft.com/office/drawing/2014/main" val="3879630041"/>
                  </a:ext>
                </a:extLst>
              </a:tr>
              <a:tr h="853440">
                <a:tc>
                  <a:txBody>
                    <a:bodyPr/>
                    <a:lstStyle/>
                    <a:p>
                      <a:pPr>
                        <a:buNone/>
                      </a:pPr>
                      <a:r>
                        <a:rPr lang="en-IN" sz="1400"/>
                        <a:t>2</a:t>
                      </a:r>
                    </a:p>
                  </a:txBody>
                  <a:tcPr marL="53340" marR="53340" marT="26670" marB="26670" anchor="ctr"/>
                </a:tc>
                <a:tc>
                  <a:txBody>
                    <a:bodyPr/>
                    <a:lstStyle/>
                    <a:p>
                      <a:pPr>
                        <a:buNone/>
                      </a:pPr>
                      <a:r>
                        <a:rPr lang="en-IN" sz="1400"/>
                        <a:t>Wang (2009)</a:t>
                      </a:r>
                    </a:p>
                  </a:txBody>
                  <a:tcPr marL="53340" marR="53340" marT="26670" marB="26670" anchor="ctr"/>
                </a:tc>
                <a:tc>
                  <a:txBody>
                    <a:bodyPr/>
                    <a:lstStyle/>
                    <a:p>
                      <a:pPr>
                        <a:buNone/>
                      </a:pPr>
                      <a:r>
                        <a:rPr lang="en-IN" sz="1400"/>
                        <a:t>Integrated Library System Challenges and Opportunities</a:t>
                      </a:r>
                    </a:p>
                  </a:txBody>
                  <a:tcPr marL="53340" marR="53340" marT="26670" marB="26670" anchor="ctr"/>
                </a:tc>
                <a:tc>
                  <a:txBody>
                    <a:bodyPr/>
                    <a:lstStyle/>
                    <a:p>
                      <a:pPr>
                        <a:buNone/>
                      </a:pPr>
                      <a:r>
                        <a:rPr lang="en-IN" sz="1400"/>
                        <a:t>Examined challenges in implementing and migrating integrated library systems. (</a:t>
                      </a:r>
                      <a:r>
                        <a:rPr lang="en-IN" sz="1400">
                          <a:hlinkClick r:id="rId5" tooltip="Integrated Library System (ILS) Challenges and Opportunities: A Survey of U.S. Academic Libraries with Migration Projects - ScienceDirect"/>
                        </a:rPr>
                        <a:t>ScienceDirect</a:t>
                      </a:r>
                      <a:r>
                        <a:rPr lang="en-IN" sz="1400"/>
                        <a:t>)</a:t>
                      </a:r>
                    </a:p>
                  </a:txBody>
                  <a:tcPr marL="53340" marR="53340" marT="26670" marB="26670" anchor="ctr"/>
                </a:tc>
                <a:extLst>
                  <a:ext uri="{0D108BD9-81ED-4DB2-BD59-A6C34878D82A}">
                    <a16:rowId xmlns:a16="http://schemas.microsoft.com/office/drawing/2014/main" val="632967553"/>
                  </a:ext>
                </a:extLst>
              </a:tr>
              <a:tr h="1013460">
                <a:tc>
                  <a:txBody>
                    <a:bodyPr/>
                    <a:lstStyle/>
                    <a:p>
                      <a:pPr>
                        <a:buNone/>
                      </a:pPr>
                      <a:r>
                        <a:rPr lang="en-IN" sz="1400"/>
                        <a:t>3</a:t>
                      </a:r>
                    </a:p>
                  </a:txBody>
                  <a:tcPr marL="53340" marR="53340" marT="26670" marB="26670" anchor="ctr"/>
                </a:tc>
                <a:tc>
                  <a:txBody>
                    <a:bodyPr/>
                    <a:lstStyle/>
                    <a:p>
                      <a:pPr>
                        <a:buNone/>
                      </a:pPr>
                      <a:r>
                        <a:rPr lang="en-IN" sz="1400"/>
                        <a:t>Design and Implementation of Web-Based Library Management System (2023)</a:t>
                      </a:r>
                    </a:p>
                  </a:txBody>
                  <a:tcPr marL="53340" marR="53340" marT="26670" marB="26670" anchor="ctr"/>
                </a:tc>
                <a:tc>
                  <a:txBody>
                    <a:bodyPr/>
                    <a:lstStyle/>
                    <a:p>
                      <a:pPr>
                        <a:buNone/>
                      </a:pPr>
                      <a:r>
                        <a:rPr lang="en-IN" sz="1400"/>
                        <a:t>Automated Library Management</a:t>
                      </a:r>
                    </a:p>
                  </a:txBody>
                  <a:tcPr marL="53340" marR="53340" marT="26670" marB="26670" anchor="ctr"/>
                </a:tc>
                <a:tc>
                  <a:txBody>
                    <a:bodyPr/>
                    <a:lstStyle/>
                    <a:p>
                      <a:pPr>
                        <a:buNone/>
                      </a:pPr>
                      <a:r>
                        <a:rPr lang="en-IN" sz="1400"/>
                        <a:t>Explored browser-server architecture, MySQL database integration, and functional testing. (</a:t>
                      </a:r>
                      <a:r>
                        <a:rPr lang="en-IN" sz="1400">
                          <a:hlinkClick r:id="rId6" tooltip="Design and Implementation of Web-Based Library Management System | IEEE Conference Publication | IEEE Xplore"/>
                        </a:rPr>
                        <a:t>IEEE Xplore</a:t>
                      </a:r>
                      <a:r>
                        <a:rPr lang="en-IN" sz="1400"/>
                        <a:t>)</a:t>
                      </a:r>
                    </a:p>
                  </a:txBody>
                  <a:tcPr marL="53340" marR="53340" marT="26670" marB="26670" anchor="ctr"/>
                </a:tc>
                <a:extLst>
                  <a:ext uri="{0D108BD9-81ED-4DB2-BD59-A6C34878D82A}">
                    <a16:rowId xmlns:a16="http://schemas.microsoft.com/office/drawing/2014/main" val="2987244992"/>
                  </a:ext>
                </a:extLst>
              </a:tr>
              <a:tr h="1173480">
                <a:tc>
                  <a:txBody>
                    <a:bodyPr/>
                    <a:lstStyle/>
                    <a:p>
                      <a:pPr>
                        <a:buNone/>
                      </a:pPr>
                      <a:r>
                        <a:rPr lang="en-IN" sz="1400"/>
                        <a:t>4</a:t>
                      </a:r>
                    </a:p>
                  </a:txBody>
                  <a:tcPr marL="53340" marR="53340" marT="26670" marB="26670" anchor="ctr"/>
                </a:tc>
                <a:tc>
                  <a:txBody>
                    <a:bodyPr/>
                    <a:lstStyle/>
                    <a:p>
                      <a:pPr>
                        <a:buNone/>
                      </a:pPr>
                      <a:r>
                        <a:rPr lang="en-IN" sz="1400"/>
                        <a:t>Asim &amp; Arif (2025)</a:t>
                      </a:r>
                    </a:p>
                  </a:txBody>
                  <a:tcPr marL="53340" marR="53340" marT="26670" marB="26670" anchor="ctr"/>
                </a:tc>
                <a:tc>
                  <a:txBody>
                    <a:bodyPr/>
                    <a:lstStyle/>
                    <a:p>
                      <a:pPr>
                        <a:buNone/>
                      </a:pPr>
                      <a:r>
                        <a:rPr lang="en-IN" sz="1400"/>
                        <a:t>Adoption of Koha Integrated Library Software</a:t>
                      </a:r>
                    </a:p>
                  </a:txBody>
                  <a:tcPr marL="53340" marR="53340" marT="26670" marB="26670" anchor="ctr"/>
                </a:tc>
                <a:tc>
                  <a:txBody>
                    <a:bodyPr/>
                    <a:lstStyle/>
                    <a:p>
                      <a:pPr>
                        <a:buNone/>
                      </a:pPr>
                      <a:r>
                        <a:rPr lang="en-IN" sz="1400" dirty="0"/>
                        <a:t>Identified benefits of library automation, including improved cataloguing and library services. (</a:t>
                      </a:r>
                      <a:r>
                        <a:rPr lang="en-IN" sz="1400" dirty="0">
                          <a:hlinkClick r:id="rId7" tooltip="Adoption of Koha Integrated Library Software in University Libraries: A Systematic Literature Review: Serials Review: Vol 51 , No 1-2 - Get Access"/>
                        </a:rPr>
                        <a:t>Taylor &amp; Francis Online</a:t>
                      </a:r>
                      <a:r>
                        <a:rPr lang="en-IN" sz="1400" dirty="0"/>
                        <a:t>)</a:t>
                      </a:r>
                    </a:p>
                  </a:txBody>
                  <a:tcPr marL="53340" marR="53340" marT="26670" marB="26670" anchor="ctr"/>
                </a:tc>
                <a:extLst>
                  <a:ext uri="{0D108BD9-81ED-4DB2-BD59-A6C34878D82A}">
                    <a16:rowId xmlns:a16="http://schemas.microsoft.com/office/drawing/2014/main" val="3735622457"/>
                  </a:ext>
                </a:extLst>
              </a:tr>
            </a:tbl>
          </a:graphicData>
        </a:graphic>
      </p:graphicFrame>
    </p:spTree>
    <p:extLst>
      <p:ext uri="{BB962C8B-B14F-4D97-AF65-F5344CB8AC3E}">
        <p14:creationId xmlns:p14="http://schemas.microsoft.com/office/powerpoint/2010/main" val="297243255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0C9F-935C-1552-64D7-4661F5C370DF}"/>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SYSTEM ARCHITECTURE</a:t>
            </a:r>
            <a:endParaRPr lang="en-IN" sz="3200" dirty="0"/>
          </a:p>
        </p:txBody>
      </p:sp>
      <p:pic>
        <p:nvPicPr>
          <p:cNvPr id="9" name="Picture 8">
            <a:extLst>
              <a:ext uri="{FF2B5EF4-FFF2-40B4-BE49-F238E27FC236}">
                <a16:creationId xmlns:a16="http://schemas.microsoft.com/office/drawing/2014/main" id="{420B3566-5B10-5C85-C63A-FD7C366C742A}"/>
              </a:ext>
            </a:extLst>
          </p:cNvPr>
          <p:cNvPicPr>
            <a:picLocks noChangeAspect="1"/>
          </p:cNvPicPr>
          <p:nvPr/>
        </p:nvPicPr>
        <p:blipFill>
          <a:blip r:embed="rId2"/>
          <a:stretch>
            <a:fillRect/>
          </a:stretch>
        </p:blipFill>
        <p:spPr>
          <a:xfrm>
            <a:off x="1244207" y="1684421"/>
            <a:ext cx="10067390" cy="4430735"/>
          </a:xfrm>
          <a:prstGeom prst="rect">
            <a:avLst/>
          </a:prstGeom>
        </p:spPr>
      </p:pic>
    </p:spTree>
    <p:extLst>
      <p:ext uri="{BB962C8B-B14F-4D97-AF65-F5344CB8AC3E}">
        <p14:creationId xmlns:p14="http://schemas.microsoft.com/office/powerpoint/2010/main" val="3806739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B3FC4-B70F-A77F-F24E-77CEB5555C5D}"/>
            </a:ext>
          </a:extLst>
        </p:cNvPr>
        <p:cNvGrpSpPr/>
        <p:nvPr/>
      </p:nvGrpSpPr>
      <p:grpSpPr>
        <a:xfrm>
          <a:off x="0" y="0"/>
          <a:ext cx="0" cy="0"/>
          <a:chOff x="0" y="0"/>
          <a:chExt cx="0" cy="0"/>
        </a:xfrm>
      </p:grpSpPr>
      <p:sp>
        <p:nvSpPr>
          <p:cNvPr id="12" name="Rectangle: Diagonal Corners Rounded 11">
            <a:extLst>
              <a:ext uri="{FF2B5EF4-FFF2-40B4-BE49-F238E27FC236}">
                <a16:creationId xmlns:a16="http://schemas.microsoft.com/office/drawing/2014/main" id="{75B14E8C-E791-0112-758F-263696A8EF13}"/>
              </a:ext>
            </a:extLst>
          </p:cNvPr>
          <p:cNvSpPr/>
          <p:nvPr/>
        </p:nvSpPr>
        <p:spPr bwMode="auto">
          <a:xfrm>
            <a:off x="8470233"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1" name="Rectangle: Diagonal Corners Rounded 10">
            <a:extLst>
              <a:ext uri="{FF2B5EF4-FFF2-40B4-BE49-F238E27FC236}">
                <a16:creationId xmlns:a16="http://schemas.microsoft.com/office/drawing/2014/main" id="{08F62E6D-69EC-C902-0C91-AFE5FB338871}"/>
              </a:ext>
            </a:extLst>
          </p:cNvPr>
          <p:cNvSpPr/>
          <p:nvPr/>
        </p:nvSpPr>
        <p:spPr bwMode="auto">
          <a:xfrm>
            <a:off x="4642296"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Diagonal Corners Rounded 9">
            <a:extLst>
              <a:ext uri="{FF2B5EF4-FFF2-40B4-BE49-F238E27FC236}">
                <a16:creationId xmlns:a16="http://schemas.microsoft.com/office/drawing/2014/main" id="{6F740F68-A35E-7FBC-CA98-58EFFD1D628B}"/>
              </a:ext>
            </a:extLst>
          </p:cNvPr>
          <p:cNvSpPr/>
          <p:nvPr/>
        </p:nvSpPr>
        <p:spPr bwMode="auto">
          <a:xfrm>
            <a:off x="766233"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 name="Title 1">
            <a:extLst>
              <a:ext uri="{FF2B5EF4-FFF2-40B4-BE49-F238E27FC236}">
                <a16:creationId xmlns:a16="http://schemas.microsoft.com/office/drawing/2014/main" id="{F5AB7A10-C547-BFF3-8BCF-FBE663413E22}"/>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p>
        </p:txBody>
      </p:sp>
      <p:sp>
        <p:nvSpPr>
          <p:cNvPr id="4" name="TextBox 3">
            <a:extLst>
              <a:ext uri="{FF2B5EF4-FFF2-40B4-BE49-F238E27FC236}">
                <a16:creationId xmlns:a16="http://schemas.microsoft.com/office/drawing/2014/main" id="{F69DDE78-D5BA-CBC6-C2A9-7EC2C57F61F4}"/>
              </a:ext>
            </a:extLst>
          </p:cNvPr>
          <p:cNvSpPr txBox="1"/>
          <p:nvPr/>
        </p:nvSpPr>
        <p:spPr>
          <a:xfrm>
            <a:off x="894569" y="2168654"/>
            <a:ext cx="2779072" cy="3447098"/>
          </a:xfrm>
          <a:prstGeom prst="rect">
            <a:avLst/>
          </a:prstGeom>
          <a:noFill/>
        </p:spPr>
        <p:txBody>
          <a:bodyPr wrap="square">
            <a:spAutoFit/>
          </a:bodyPr>
          <a:lstStyle/>
          <a:p>
            <a:pPr algn="ctr">
              <a:buNone/>
            </a:pPr>
            <a:r>
              <a:rPr lang="en-IN" sz="2000" b="1" dirty="0">
                <a:solidFill>
                  <a:schemeClr val="accent2"/>
                </a:solidFill>
              </a:rPr>
              <a:t>1. Authentication Module</a:t>
            </a:r>
          </a:p>
          <a:p>
            <a:pPr marL="342900" lvl="0" indent="-342900" algn="just">
              <a:buFont typeface="Arial" panose="020B0604020202020204" pitchFamily="34" charset="0"/>
              <a:buChar char="•"/>
            </a:pPr>
            <a:r>
              <a:rPr lang="en-IN" sz="2000" dirty="0"/>
              <a:t>Provides a login interface. </a:t>
            </a:r>
          </a:p>
          <a:p>
            <a:pPr marL="342900" lvl="0" indent="-342900" algn="just">
              <a:buFont typeface="Arial" panose="020B0604020202020204" pitchFamily="34" charset="0"/>
              <a:buChar char="•"/>
            </a:pPr>
            <a:r>
              <a:rPr lang="en-IN" sz="2000" dirty="0"/>
              <a:t>Validates user credentials. </a:t>
            </a:r>
          </a:p>
          <a:p>
            <a:pPr marL="342900" lvl="0" indent="-342900" algn="just">
              <a:buFont typeface="Arial" panose="020B0604020202020204" pitchFamily="34" charset="0"/>
              <a:buChar char="•"/>
            </a:pPr>
            <a:r>
              <a:rPr lang="en-IN" sz="2000" dirty="0"/>
              <a:t>Supports administrator and member access. </a:t>
            </a:r>
          </a:p>
          <a:p>
            <a:pPr lvl="0"/>
            <a:endParaRPr lang="en-IN" sz="2000" dirty="0"/>
          </a:p>
        </p:txBody>
      </p:sp>
      <p:sp>
        <p:nvSpPr>
          <p:cNvPr id="6" name="TextBox 5">
            <a:extLst>
              <a:ext uri="{FF2B5EF4-FFF2-40B4-BE49-F238E27FC236}">
                <a16:creationId xmlns:a16="http://schemas.microsoft.com/office/drawing/2014/main" id="{77852940-1A8B-28C5-A1B7-F397F69DCECA}"/>
              </a:ext>
            </a:extLst>
          </p:cNvPr>
          <p:cNvSpPr txBox="1"/>
          <p:nvPr/>
        </p:nvSpPr>
        <p:spPr>
          <a:xfrm>
            <a:off x="4738548" y="2186424"/>
            <a:ext cx="2897494" cy="3170099"/>
          </a:xfrm>
          <a:prstGeom prst="rect">
            <a:avLst/>
          </a:prstGeom>
          <a:noFill/>
        </p:spPr>
        <p:txBody>
          <a:bodyPr wrap="square">
            <a:spAutoFit/>
          </a:bodyPr>
          <a:lstStyle/>
          <a:p>
            <a:pPr algn="ctr">
              <a:buNone/>
            </a:pPr>
            <a:r>
              <a:rPr lang="en-IN" sz="2000" b="1" dirty="0">
                <a:solidFill>
                  <a:schemeClr val="accent2"/>
                </a:solidFill>
              </a:rPr>
              <a:t>2. Book Catalogue Module</a:t>
            </a:r>
          </a:p>
          <a:p>
            <a:pPr marL="342900" lvl="0" indent="-342900" algn="just">
              <a:buFont typeface="Arial" panose="020B0604020202020204" pitchFamily="34" charset="0"/>
              <a:buChar char="•"/>
            </a:pPr>
            <a:r>
              <a:rPr lang="en-IN" sz="2000" dirty="0"/>
              <a:t>Displays available book information. </a:t>
            </a:r>
          </a:p>
          <a:p>
            <a:pPr marL="342900" lvl="0" indent="-342900" algn="just">
              <a:buFont typeface="Arial" panose="020B0604020202020204" pitchFamily="34" charset="0"/>
              <a:buChar char="•"/>
            </a:pPr>
            <a:r>
              <a:rPr lang="en-IN" sz="2000" dirty="0"/>
              <a:t>Supports searching for books. </a:t>
            </a:r>
          </a:p>
          <a:p>
            <a:pPr marL="342900" lvl="0" indent="-342900" algn="just">
              <a:buFont typeface="Arial" panose="020B0604020202020204" pitchFamily="34" charset="0"/>
              <a:buChar char="•"/>
            </a:pPr>
            <a:r>
              <a:rPr lang="en-IN" sz="2000" dirty="0"/>
              <a:t>Shows relevant book details and availability.</a:t>
            </a:r>
          </a:p>
        </p:txBody>
      </p:sp>
      <p:sp>
        <p:nvSpPr>
          <p:cNvPr id="9" name="TextBox 8">
            <a:extLst>
              <a:ext uri="{FF2B5EF4-FFF2-40B4-BE49-F238E27FC236}">
                <a16:creationId xmlns:a16="http://schemas.microsoft.com/office/drawing/2014/main" id="{AE493B59-0273-E1F5-B99B-D38A6A5EEC39}"/>
              </a:ext>
            </a:extLst>
          </p:cNvPr>
          <p:cNvSpPr txBox="1"/>
          <p:nvPr/>
        </p:nvSpPr>
        <p:spPr>
          <a:xfrm>
            <a:off x="8666525" y="2216780"/>
            <a:ext cx="2687498" cy="2554545"/>
          </a:xfrm>
          <a:prstGeom prst="rect">
            <a:avLst/>
          </a:prstGeom>
          <a:noFill/>
        </p:spPr>
        <p:txBody>
          <a:bodyPr wrap="square">
            <a:spAutoFit/>
          </a:bodyPr>
          <a:lstStyle/>
          <a:p>
            <a:pPr algn="ctr">
              <a:buNone/>
            </a:pPr>
            <a:r>
              <a:rPr lang="en-IN" sz="2000" b="1" dirty="0">
                <a:solidFill>
                  <a:schemeClr val="accent2"/>
                </a:solidFill>
              </a:rPr>
              <a:t>3. Admin Dashboard</a:t>
            </a:r>
          </a:p>
          <a:p>
            <a:pPr marL="342900" lvl="0" indent="-342900" algn="just">
              <a:buFont typeface="Arial" panose="020B0604020202020204" pitchFamily="34" charset="0"/>
              <a:buChar char="•"/>
            </a:pPr>
            <a:r>
              <a:rPr lang="en-IN" sz="2000" dirty="0"/>
              <a:t>Provides access to administrative features. </a:t>
            </a:r>
          </a:p>
          <a:p>
            <a:pPr marL="342900" lvl="0" indent="-342900" algn="just">
              <a:buFont typeface="Arial" panose="020B0604020202020204" pitchFamily="34" charset="0"/>
              <a:buChar char="•"/>
            </a:pPr>
            <a:r>
              <a:rPr lang="en-IN" sz="2000" dirty="0"/>
              <a:t>Supports library management operations. </a:t>
            </a:r>
          </a:p>
        </p:txBody>
      </p:sp>
    </p:spTree>
    <p:extLst>
      <p:ext uri="{BB962C8B-B14F-4D97-AF65-F5344CB8AC3E}">
        <p14:creationId xmlns:p14="http://schemas.microsoft.com/office/powerpoint/2010/main" val="213698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6548F-114D-160A-5525-3AB5049AD98C}"/>
            </a:ext>
          </a:extLst>
        </p:cNvPr>
        <p:cNvGrpSpPr/>
        <p:nvPr/>
      </p:nvGrpSpPr>
      <p:grpSpPr>
        <a:xfrm>
          <a:off x="0" y="0"/>
          <a:ext cx="0" cy="0"/>
          <a:chOff x="0" y="0"/>
          <a:chExt cx="0" cy="0"/>
        </a:xfrm>
      </p:grpSpPr>
      <p:sp>
        <p:nvSpPr>
          <p:cNvPr id="11" name="Rectangle: Diagonal Corners Rounded 10">
            <a:extLst>
              <a:ext uri="{FF2B5EF4-FFF2-40B4-BE49-F238E27FC236}">
                <a16:creationId xmlns:a16="http://schemas.microsoft.com/office/drawing/2014/main" id="{FB4B59E3-4439-2539-1FB6-25B474398781}"/>
              </a:ext>
            </a:extLst>
          </p:cNvPr>
          <p:cNvSpPr/>
          <p:nvPr/>
        </p:nvSpPr>
        <p:spPr bwMode="auto">
          <a:xfrm>
            <a:off x="7064657"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Diagonal Corners Rounded 9">
            <a:extLst>
              <a:ext uri="{FF2B5EF4-FFF2-40B4-BE49-F238E27FC236}">
                <a16:creationId xmlns:a16="http://schemas.microsoft.com/office/drawing/2014/main" id="{CA1C6E72-AC42-5DC9-39CF-49DDE5AADD55}"/>
              </a:ext>
            </a:extLst>
          </p:cNvPr>
          <p:cNvSpPr/>
          <p:nvPr/>
        </p:nvSpPr>
        <p:spPr bwMode="auto">
          <a:xfrm>
            <a:off x="3332971"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 name="Title 1">
            <a:extLst>
              <a:ext uri="{FF2B5EF4-FFF2-40B4-BE49-F238E27FC236}">
                <a16:creationId xmlns:a16="http://schemas.microsoft.com/office/drawing/2014/main" id="{218016FF-313F-E9A0-9B03-A3FAE155913A}"/>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p>
        </p:txBody>
      </p:sp>
      <p:sp>
        <p:nvSpPr>
          <p:cNvPr id="5" name="TextBox 4">
            <a:extLst>
              <a:ext uri="{FF2B5EF4-FFF2-40B4-BE49-F238E27FC236}">
                <a16:creationId xmlns:a16="http://schemas.microsoft.com/office/drawing/2014/main" id="{71780972-B305-1090-AFCA-DF7006E2C49B}"/>
              </a:ext>
            </a:extLst>
          </p:cNvPr>
          <p:cNvSpPr txBox="1"/>
          <p:nvPr/>
        </p:nvSpPr>
        <p:spPr>
          <a:xfrm>
            <a:off x="3448330" y="2526284"/>
            <a:ext cx="2968514" cy="2246769"/>
          </a:xfrm>
          <a:prstGeom prst="rect">
            <a:avLst/>
          </a:prstGeom>
          <a:noFill/>
        </p:spPr>
        <p:txBody>
          <a:bodyPr wrap="square">
            <a:spAutoFit/>
          </a:bodyPr>
          <a:lstStyle/>
          <a:p>
            <a:pPr algn="ctr">
              <a:buNone/>
            </a:pPr>
            <a:r>
              <a:rPr lang="en-IN" sz="2000" b="1" dirty="0">
                <a:solidFill>
                  <a:schemeClr val="accent2"/>
                </a:solidFill>
              </a:rPr>
              <a:t>4. Member Management Module</a:t>
            </a:r>
          </a:p>
          <a:p>
            <a:pPr marL="342900" lvl="0" indent="-342900">
              <a:buFont typeface="Arial" panose="020B0604020202020204" pitchFamily="34" charset="0"/>
              <a:buChar char="•"/>
            </a:pPr>
            <a:r>
              <a:rPr lang="en-IN" sz="2000" dirty="0"/>
              <a:t>Allows administrators to manage member records.</a:t>
            </a:r>
          </a:p>
        </p:txBody>
      </p:sp>
      <p:sp>
        <p:nvSpPr>
          <p:cNvPr id="8" name="TextBox 7">
            <a:extLst>
              <a:ext uri="{FF2B5EF4-FFF2-40B4-BE49-F238E27FC236}">
                <a16:creationId xmlns:a16="http://schemas.microsoft.com/office/drawing/2014/main" id="{64164145-080D-03B9-6D52-1EACEC265DF6}"/>
              </a:ext>
            </a:extLst>
          </p:cNvPr>
          <p:cNvSpPr txBox="1"/>
          <p:nvPr/>
        </p:nvSpPr>
        <p:spPr>
          <a:xfrm>
            <a:off x="7082591" y="2494200"/>
            <a:ext cx="3230145" cy="2554545"/>
          </a:xfrm>
          <a:prstGeom prst="rect">
            <a:avLst/>
          </a:prstGeom>
          <a:noFill/>
        </p:spPr>
        <p:txBody>
          <a:bodyPr wrap="square">
            <a:spAutoFit/>
          </a:bodyPr>
          <a:lstStyle/>
          <a:p>
            <a:pPr algn="ctr">
              <a:buNone/>
            </a:pPr>
            <a:r>
              <a:rPr lang="en-IN" sz="2000" b="1" dirty="0">
                <a:solidFill>
                  <a:schemeClr val="accent2"/>
                </a:solidFill>
              </a:rPr>
              <a:t>5. Circulation </a:t>
            </a:r>
          </a:p>
          <a:p>
            <a:pPr algn="ctr">
              <a:buNone/>
            </a:pPr>
            <a:r>
              <a:rPr lang="en-IN" sz="2000" b="1" dirty="0">
                <a:solidFill>
                  <a:schemeClr val="accent2"/>
                </a:solidFill>
              </a:rPr>
              <a:t>Module</a:t>
            </a:r>
          </a:p>
          <a:p>
            <a:pPr marL="342900" lvl="0" indent="-342900">
              <a:buFont typeface="Arial" panose="020B0604020202020204" pitchFamily="34" charset="0"/>
              <a:buChar char="•"/>
            </a:pPr>
            <a:r>
              <a:rPr lang="en-IN" sz="2000" dirty="0"/>
              <a:t>Supports issuing books to members. </a:t>
            </a:r>
          </a:p>
          <a:p>
            <a:pPr marL="342900" lvl="0" indent="-342900">
              <a:buFont typeface="Arial" panose="020B0604020202020204" pitchFamily="34" charset="0"/>
              <a:buChar char="•"/>
            </a:pPr>
            <a:r>
              <a:rPr lang="en-IN" sz="2000" dirty="0"/>
              <a:t>Records book returns. </a:t>
            </a:r>
          </a:p>
          <a:p>
            <a:pPr marL="342900" lvl="0" indent="-342900">
              <a:buFont typeface="Arial" panose="020B0604020202020204" pitchFamily="34" charset="0"/>
              <a:buChar char="•"/>
            </a:pPr>
            <a:r>
              <a:rPr lang="en-IN" sz="2000" dirty="0"/>
              <a:t>Maintains circulation information.</a:t>
            </a:r>
          </a:p>
        </p:txBody>
      </p:sp>
    </p:spTree>
    <p:extLst>
      <p:ext uri="{BB962C8B-B14F-4D97-AF65-F5344CB8AC3E}">
        <p14:creationId xmlns:p14="http://schemas.microsoft.com/office/powerpoint/2010/main" val="3367071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42C9A-6458-AE6A-2AC0-D3D13BFC2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A45B4-666B-874C-21AF-2924CC0511D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WORKFLOW</a:t>
            </a:r>
          </a:p>
        </p:txBody>
      </p:sp>
      <p:pic>
        <p:nvPicPr>
          <p:cNvPr id="12" name="Picture 11">
            <a:extLst>
              <a:ext uri="{FF2B5EF4-FFF2-40B4-BE49-F238E27FC236}">
                <a16:creationId xmlns:a16="http://schemas.microsoft.com/office/drawing/2014/main" id="{F3FFC1E3-3A51-E4EC-FCFA-FFCD21FD496A}"/>
              </a:ext>
            </a:extLst>
          </p:cNvPr>
          <p:cNvPicPr>
            <a:picLocks noChangeAspect="1"/>
          </p:cNvPicPr>
          <p:nvPr/>
        </p:nvPicPr>
        <p:blipFill>
          <a:blip r:embed="rId2"/>
          <a:stretch>
            <a:fillRect/>
          </a:stretch>
        </p:blipFill>
        <p:spPr>
          <a:xfrm>
            <a:off x="551611" y="2063845"/>
            <a:ext cx="11088777" cy="3037543"/>
          </a:xfrm>
          <a:prstGeom prst="rect">
            <a:avLst/>
          </a:prstGeom>
        </p:spPr>
      </p:pic>
    </p:spTree>
    <p:extLst>
      <p:ext uri="{BB962C8B-B14F-4D97-AF65-F5344CB8AC3E}">
        <p14:creationId xmlns:p14="http://schemas.microsoft.com/office/powerpoint/2010/main" val="29434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71705-A102-BE76-EC00-C0EFC0909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7209A-888A-E46B-2288-FDC03B875CE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4" name="TextBox 3">
            <a:extLst>
              <a:ext uri="{FF2B5EF4-FFF2-40B4-BE49-F238E27FC236}">
                <a16:creationId xmlns:a16="http://schemas.microsoft.com/office/drawing/2014/main" id="{82D7CFFA-654B-57F9-CAB6-9675B4154523}"/>
              </a:ext>
            </a:extLst>
          </p:cNvPr>
          <p:cNvSpPr txBox="1"/>
          <p:nvPr/>
        </p:nvSpPr>
        <p:spPr>
          <a:xfrm>
            <a:off x="766233" y="1741983"/>
            <a:ext cx="11137009" cy="923330"/>
          </a:xfrm>
          <a:prstGeom prst="rect">
            <a:avLst/>
          </a:prstGeom>
          <a:noFill/>
        </p:spPr>
        <p:txBody>
          <a:bodyPr wrap="square">
            <a:spAutoFit/>
          </a:bodyPr>
          <a:lstStyle/>
          <a:p>
            <a:pPr>
              <a:buNone/>
            </a:pPr>
            <a:r>
              <a:rPr lang="en-IN" b="1" dirty="0"/>
              <a:t>Website Interface</a:t>
            </a:r>
          </a:p>
          <a:p>
            <a:pPr>
              <a:buNone/>
            </a:pPr>
            <a:r>
              <a:rPr lang="en-IN" dirty="0"/>
              <a:t>BookBridge provides an interactive interface designed to make library operations simple and accessible.</a:t>
            </a:r>
          </a:p>
        </p:txBody>
      </p:sp>
      <p:sp>
        <p:nvSpPr>
          <p:cNvPr id="6" name="TextBox 5">
            <a:extLst>
              <a:ext uri="{FF2B5EF4-FFF2-40B4-BE49-F238E27FC236}">
                <a16:creationId xmlns:a16="http://schemas.microsoft.com/office/drawing/2014/main" id="{9BE6E509-D019-8CE2-4DB5-FF52A2E82D3F}"/>
              </a:ext>
            </a:extLst>
          </p:cNvPr>
          <p:cNvSpPr txBox="1"/>
          <p:nvPr/>
        </p:nvSpPr>
        <p:spPr>
          <a:xfrm>
            <a:off x="1279580" y="3237274"/>
            <a:ext cx="2666778" cy="1938992"/>
          </a:xfrm>
          <a:prstGeom prst="rect">
            <a:avLst/>
          </a:prstGeom>
          <a:noFill/>
        </p:spPr>
        <p:txBody>
          <a:bodyPr wrap="square">
            <a:spAutoFit/>
          </a:bodyPr>
          <a:lstStyle/>
          <a:p>
            <a:pPr>
              <a:buNone/>
            </a:pPr>
            <a:r>
              <a:rPr lang="en-IN" sz="2000" b="1" dirty="0"/>
              <a:t>Login Page</a:t>
            </a:r>
            <a:endParaRPr lang="en-IN" sz="2000" dirty="0"/>
          </a:p>
          <a:p>
            <a:pPr marL="342900" lvl="0" indent="-342900">
              <a:buFont typeface="Arial" panose="020B0604020202020204" pitchFamily="34" charset="0"/>
              <a:buChar char="•"/>
            </a:pPr>
            <a:r>
              <a:rPr lang="en-IN" sz="2000" dirty="0"/>
              <a:t>Accepts user credentials. </a:t>
            </a:r>
          </a:p>
          <a:p>
            <a:pPr marL="342900" lvl="0" indent="-342900">
              <a:buFont typeface="Arial" panose="020B0604020202020204" pitchFamily="34" charset="0"/>
              <a:buChar char="•"/>
            </a:pPr>
            <a:r>
              <a:rPr lang="en-IN" sz="2000" dirty="0"/>
              <a:t>Provides access to the application.</a:t>
            </a:r>
          </a:p>
        </p:txBody>
      </p:sp>
      <p:pic>
        <p:nvPicPr>
          <p:cNvPr id="5" name="Picture 4">
            <a:extLst>
              <a:ext uri="{FF2B5EF4-FFF2-40B4-BE49-F238E27FC236}">
                <a16:creationId xmlns:a16="http://schemas.microsoft.com/office/drawing/2014/main" id="{C9EF6F97-5989-6A63-997D-B9BF8AFF86E8}"/>
              </a:ext>
            </a:extLst>
          </p:cNvPr>
          <p:cNvPicPr>
            <a:picLocks noChangeAspect="1"/>
          </p:cNvPicPr>
          <p:nvPr/>
        </p:nvPicPr>
        <p:blipFill>
          <a:blip r:embed="rId2"/>
          <a:stretch>
            <a:fillRect/>
          </a:stretch>
        </p:blipFill>
        <p:spPr>
          <a:xfrm>
            <a:off x="4149305" y="2400402"/>
            <a:ext cx="7665721" cy="3744933"/>
          </a:xfrm>
          <a:prstGeom prst="rect">
            <a:avLst/>
          </a:prstGeom>
        </p:spPr>
      </p:pic>
    </p:spTree>
    <p:extLst>
      <p:ext uri="{BB962C8B-B14F-4D97-AF65-F5344CB8AC3E}">
        <p14:creationId xmlns:p14="http://schemas.microsoft.com/office/powerpoint/2010/main" val="386124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1E95-05AA-320A-8F58-5F3F10384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BE9AB-6BBB-8C79-254C-E41819A6F19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CD203B10-AF54-B419-6F17-9575351B061A}"/>
              </a:ext>
            </a:extLst>
          </p:cNvPr>
          <p:cNvSpPr txBox="1"/>
          <p:nvPr/>
        </p:nvSpPr>
        <p:spPr>
          <a:xfrm>
            <a:off x="898357" y="2810925"/>
            <a:ext cx="2470485" cy="1754326"/>
          </a:xfrm>
          <a:prstGeom prst="rect">
            <a:avLst/>
          </a:prstGeom>
          <a:noFill/>
        </p:spPr>
        <p:txBody>
          <a:bodyPr wrap="square">
            <a:spAutoFit/>
          </a:bodyPr>
          <a:lstStyle/>
          <a:p>
            <a:pPr>
              <a:buNone/>
            </a:pPr>
            <a:r>
              <a:rPr lang="en-IN" b="1" dirty="0"/>
              <a:t>Admin Dashboard</a:t>
            </a:r>
            <a:endParaRPr lang="en-IN" dirty="0"/>
          </a:p>
          <a:p>
            <a:pPr marL="342900" lvl="0" indent="-342900">
              <a:buFont typeface="Arial" panose="020B0604020202020204" pitchFamily="34" charset="0"/>
              <a:buChar char="•"/>
            </a:pPr>
            <a:r>
              <a:rPr lang="en-IN" dirty="0"/>
              <a:t>Displays administrative navigation and management options.</a:t>
            </a:r>
          </a:p>
        </p:txBody>
      </p:sp>
      <p:pic>
        <p:nvPicPr>
          <p:cNvPr id="8" name="Picture 7">
            <a:extLst>
              <a:ext uri="{FF2B5EF4-FFF2-40B4-BE49-F238E27FC236}">
                <a16:creationId xmlns:a16="http://schemas.microsoft.com/office/drawing/2014/main" id="{928165D5-B4DF-D1E7-C1B4-D2C7D848F9BA}"/>
              </a:ext>
            </a:extLst>
          </p:cNvPr>
          <p:cNvPicPr>
            <a:picLocks noChangeAspect="1"/>
          </p:cNvPicPr>
          <p:nvPr/>
        </p:nvPicPr>
        <p:blipFill>
          <a:blip r:embed="rId2"/>
          <a:stretch>
            <a:fillRect/>
          </a:stretch>
        </p:blipFill>
        <p:spPr>
          <a:xfrm>
            <a:off x="3498754" y="1820869"/>
            <a:ext cx="8282643" cy="4114710"/>
          </a:xfrm>
          <a:prstGeom prst="rect">
            <a:avLst/>
          </a:prstGeom>
        </p:spPr>
      </p:pic>
    </p:spTree>
    <p:extLst>
      <p:ext uri="{BB962C8B-B14F-4D97-AF65-F5344CB8AC3E}">
        <p14:creationId xmlns:p14="http://schemas.microsoft.com/office/powerpoint/2010/main" val="253987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9E901-A825-360A-C696-DA46B5300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2F6C7-EC96-C9AB-B441-D73DE26B77C7}"/>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E895A288-7934-22F2-338A-64AA445510F1}"/>
              </a:ext>
            </a:extLst>
          </p:cNvPr>
          <p:cNvSpPr txBox="1"/>
          <p:nvPr/>
        </p:nvSpPr>
        <p:spPr>
          <a:xfrm>
            <a:off x="898357" y="2810925"/>
            <a:ext cx="2679031" cy="1754326"/>
          </a:xfrm>
          <a:prstGeom prst="rect">
            <a:avLst/>
          </a:prstGeom>
          <a:noFill/>
        </p:spPr>
        <p:txBody>
          <a:bodyPr wrap="square">
            <a:spAutoFit/>
          </a:bodyPr>
          <a:lstStyle/>
          <a:p>
            <a:r>
              <a:rPr lang="en-IN" b="1" dirty="0"/>
              <a:t>Books Page</a:t>
            </a:r>
            <a:endParaRPr lang="en-IN" dirty="0"/>
          </a:p>
          <a:p>
            <a:pPr lvl="0"/>
            <a:r>
              <a:rPr lang="en-IN" dirty="0"/>
              <a:t>Displays the library catalogue. </a:t>
            </a:r>
          </a:p>
          <a:p>
            <a:pPr lvl="0"/>
            <a:r>
              <a:rPr lang="en-IN" dirty="0"/>
              <a:t>Provides book search and availability information.</a:t>
            </a:r>
          </a:p>
        </p:txBody>
      </p:sp>
      <p:pic>
        <p:nvPicPr>
          <p:cNvPr id="3" name="Picture 2">
            <a:extLst>
              <a:ext uri="{FF2B5EF4-FFF2-40B4-BE49-F238E27FC236}">
                <a16:creationId xmlns:a16="http://schemas.microsoft.com/office/drawing/2014/main" id="{C73A20F0-5554-BA8A-C220-653D99F9E462}"/>
              </a:ext>
            </a:extLst>
          </p:cNvPr>
          <p:cNvPicPr>
            <a:picLocks noChangeAspect="1"/>
          </p:cNvPicPr>
          <p:nvPr/>
        </p:nvPicPr>
        <p:blipFill>
          <a:blip r:embed="rId2"/>
          <a:stretch>
            <a:fillRect/>
          </a:stretch>
        </p:blipFill>
        <p:spPr>
          <a:xfrm>
            <a:off x="3577388" y="1801978"/>
            <a:ext cx="8439051" cy="4197086"/>
          </a:xfrm>
          <a:prstGeom prst="rect">
            <a:avLst/>
          </a:prstGeom>
        </p:spPr>
      </p:pic>
    </p:spTree>
    <p:extLst>
      <p:ext uri="{BB962C8B-B14F-4D97-AF65-F5344CB8AC3E}">
        <p14:creationId xmlns:p14="http://schemas.microsoft.com/office/powerpoint/2010/main" val="3880959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6885-E7E9-D5DF-2634-FC5AD5F8D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355AD-C2AD-29AD-42AC-C8B6E52B2A3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5B4639EE-1C8A-4D27-51B8-94E8BF121E39}"/>
              </a:ext>
            </a:extLst>
          </p:cNvPr>
          <p:cNvSpPr txBox="1"/>
          <p:nvPr/>
        </p:nvSpPr>
        <p:spPr>
          <a:xfrm>
            <a:off x="898358" y="2810925"/>
            <a:ext cx="2374232" cy="2031325"/>
          </a:xfrm>
          <a:prstGeom prst="rect">
            <a:avLst/>
          </a:prstGeom>
          <a:noFill/>
        </p:spPr>
        <p:txBody>
          <a:bodyPr wrap="square">
            <a:spAutoFit/>
          </a:bodyPr>
          <a:lstStyle/>
          <a:p>
            <a:r>
              <a:rPr lang="en-IN" b="1" dirty="0"/>
              <a:t>Add Book:</a:t>
            </a:r>
            <a:r>
              <a:rPr lang="en-IN" dirty="0"/>
              <a:t> </a:t>
            </a:r>
          </a:p>
          <a:p>
            <a:pPr algn="just"/>
            <a:r>
              <a:rPr lang="en-IN" dirty="0"/>
              <a:t>Allows the admin to add new books by entering the title, author, ISBN, category, and total number of copies.</a:t>
            </a:r>
          </a:p>
        </p:txBody>
      </p:sp>
      <p:pic>
        <p:nvPicPr>
          <p:cNvPr id="4" name="Picture 3">
            <a:extLst>
              <a:ext uri="{FF2B5EF4-FFF2-40B4-BE49-F238E27FC236}">
                <a16:creationId xmlns:a16="http://schemas.microsoft.com/office/drawing/2014/main" id="{CFBD9B0D-909A-4441-4F42-2E1C45933EE5}"/>
              </a:ext>
            </a:extLst>
          </p:cNvPr>
          <p:cNvPicPr>
            <a:picLocks noChangeAspect="1"/>
          </p:cNvPicPr>
          <p:nvPr/>
        </p:nvPicPr>
        <p:blipFill>
          <a:blip r:embed="rId2"/>
          <a:stretch>
            <a:fillRect/>
          </a:stretch>
        </p:blipFill>
        <p:spPr>
          <a:xfrm>
            <a:off x="3514917" y="1920336"/>
            <a:ext cx="8088420" cy="4014638"/>
          </a:xfrm>
          <a:prstGeom prst="rect">
            <a:avLst/>
          </a:prstGeom>
        </p:spPr>
      </p:pic>
    </p:spTree>
    <p:extLst>
      <p:ext uri="{BB962C8B-B14F-4D97-AF65-F5344CB8AC3E}">
        <p14:creationId xmlns:p14="http://schemas.microsoft.com/office/powerpoint/2010/main" val="86082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2224-BC33-85D3-62CA-3A1107D18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F4F0B-2F55-2867-333B-0CC49DCB497E}"/>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DE02F234-FC4D-E5F4-7719-2E999B7F1ED7}"/>
              </a:ext>
            </a:extLst>
          </p:cNvPr>
          <p:cNvSpPr txBox="1"/>
          <p:nvPr/>
        </p:nvSpPr>
        <p:spPr>
          <a:xfrm>
            <a:off x="898357" y="2810925"/>
            <a:ext cx="2679031" cy="1477328"/>
          </a:xfrm>
          <a:prstGeom prst="rect">
            <a:avLst/>
          </a:prstGeom>
          <a:noFill/>
        </p:spPr>
        <p:txBody>
          <a:bodyPr wrap="square">
            <a:spAutoFit/>
          </a:bodyPr>
          <a:lstStyle/>
          <a:p>
            <a:r>
              <a:rPr lang="en-IN" b="1"/>
              <a:t>Members Page</a:t>
            </a:r>
            <a:endParaRPr lang="en-IN"/>
          </a:p>
          <a:p>
            <a:pPr lvl="0"/>
            <a:r>
              <a:rPr lang="en-IN"/>
              <a:t>Provides member management functionality for administrators.</a:t>
            </a:r>
          </a:p>
        </p:txBody>
      </p:sp>
      <p:pic>
        <p:nvPicPr>
          <p:cNvPr id="4" name="Picture 3">
            <a:extLst>
              <a:ext uri="{FF2B5EF4-FFF2-40B4-BE49-F238E27FC236}">
                <a16:creationId xmlns:a16="http://schemas.microsoft.com/office/drawing/2014/main" id="{11F1FD1A-7E20-8F7C-1169-3C1C9B213C74}"/>
              </a:ext>
            </a:extLst>
          </p:cNvPr>
          <p:cNvPicPr>
            <a:picLocks noChangeAspect="1"/>
          </p:cNvPicPr>
          <p:nvPr/>
        </p:nvPicPr>
        <p:blipFill>
          <a:blip r:embed="rId2"/>
          <a:stretch>
            <a:fillRect/>
          </a:stretch>
        </p:blipFill>
        <p:spPr>
          <a:xfrm>
            <a:off x="3228839" y="1806306"/>
            <a:ext cx="8205394" cy="4049061"/>
          </a:xfrm>
          <a:prstGeom prst="rect">
            <a:avLst/>
          </a:prstGeom>
        </p:spPr>
      </p:pic>
    </p:spTree>
    <p:extLst>
      <p:ext uri="{BB962C8B-B14F-4D97-AF65-F5344CB8AC3E}">
        <p14:creationId xmlns:p14="http://schemas.microsoft.com/office/powerpoint/2010/main" val="1990901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A3F24-A2FC-2008-9F55-73479ECA7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E731E-91F4-C6BC-4F0E-54A345BE29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8" name="Picture 7">
            <a:extLst>
              <a:ext uri="{FF2B5EF4-FFF2-40B4-BE49-F238E27FC236}">
                <a16:creationId xmlns:a16="http://schemas.microsoft.com/office/drawing/2014/main" id="{FE36E0C9-5EC7-438C-4BCF-3D84094DBE25}"/>
              </a:ext>
            </a:extLst>
          </p:cNvPr>
          <p:cNvPicPr>
            <a:picLocks noChangeAspect="1"/>
          </p:cNvPicPr>
          <p:nvPr/>
        </p:nvPicPr>
        <p:blipFill>
          <a:blip r:embed="rId2"/>
          <a:stretch>
            <a:fillRect/>
          </a:stretch>
        </p:blipFill>
        <p:spPr>
          <a:xfrm>
            <a:off x="3432442" y="1768415"/>
            <a:ext cx="8555114" cy="4206190"/>
          </a:xfrm>
          <a:prstGeom prst="rect">
            <a:avLst/>
          </a:prstGeom>
        </p:spPr>
      </p:pic>
      <p:sp>
        <p:nvSpPr>
          <p:cNvPr id="10" name="TextBox 9">
            <a:extLst>
              <a:ext uri="{FF2B5EF4-FFF2-40B4-BE49-F238E27FC236}">
                <a16:creationId xmlns:a16="http://schemas.microsoft.com/office/drawing/2014/main" id="{7ABAA29A-673C-65BD-20E8-0AACF68B7401}"/>
              </a:ext>
            </a:extLst>
          </p:cNvPr>
          <p:cNvSpPr txBox="1"/>
          <p:nvPr/>
        </p:nvSpPr>
        <p:spPr>
          <a:xfrm>
            <a:off x="766233" y="2717348"/>
            <a:ext cx="2663406" cy="2308324"/>
          </a:xfrm>
          <a:prstGeom prst="rect">
            <a:avLst/>
          </a:prstGeom>
          <a:noFill/>
        </p:spPr>
        <p:txBody>
          <a:bodyPr wrap="square">
            <a:spAutoFit/>
          </a:bodyPr>
          <a:lstStyle/>
          <a:p>
            <a:r>
              <a:rPr lang="en-IN" b="1" dirty="0"/>
              <a:t>Register Member:</a:t>
            </a:r>
          </a:p>
          <a:p>
            <a:pPr algn="just"/>
            <a:r>
              <a:rPr lang="en-IN" dirty="0"/>
              <a:t>Allows the admin to register new library members by entering their name, email, temporary password, department, and phone number.</a:t>
            </a:r>
          </a:p>
        </p:txBody>
      </p:sp>
    </p:spTree>
    <p:extLst>
      <p:ext uri="{BB962C8B-B14F-4D97-AF65-F5344CB8AC3E}">
        <p14:creationId xmlns:p14="http://schemas.microsoft.com/office/powerpoint/2010/main" val="2409563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205E-71BF-24A3-44B1-E8F2B5707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C6A81-C1F7-6DF4-9E94-0AC273A96EE9}"/>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4" name="Picture 3">
            <a:extLst>
              <a:ext uri="{FF2B5EF4-FFF2-40B4-BE49-F238E27FC236}">
                <a16:creationId xmlns:a16="http://schemas.microsoft.com/office/drawing/2014/main" id="{86976413-B920-A8A8-621B-1860A1A71004}"/>
              </a:ext>
            </a:extLst>
          </p:cNvPr>
          <p:cNvPicPr>
            <a:picLocks noChangeAspect="1"/>
          </p:cNvPicPr>
          <p:nvPr/>
        </p:nvPicPr>
        <p:blipFill>
          <a:blip r:embed="rId2"/>
          <a:stretch>
            <a:fillRect/>
          </a:stretch>
        </p:blipFill>
        <p:spPr>
          <a:xfrm>
            <a:off x="3907766" y="1863306"/>
            <a:ext cx="8156528" cy="4050578"/>
          </a:xfrm>
          <a:prstGeom prst="rect">
            <a:avLst/>
          </a:prstGeom>
        </p:spPr>
      </p:pic>
      <p:sp>
        <p:nvSpPr>
          <p:cNvPr id="6" name="TextBox 5">
            <a:extLst>
              <a:ext uri="{FF2B5EF4-FFF2-40B4-BE49-F238E27FC236}">
                <a16:creationId xmlns:a16="http://schemas.microsoft.com/office/drawing/2014/main" id="{EE020CDC-5AB4-9388-A5F0-DFB28A1733E6}"/>
              </a:ext>
            </a:extLst>
          </p:cNvPr>
          <p:cNvSpPr txBox="1"/>
          <p:nvPr/>
        </p:nvSpPr>
        <p:spPr>
          <a:xfrm>
            <a:off x="1201228" y="2734433"/>
            <a:ext cx="2439119" cy="2308324"/>
          </a:xfrm>
          <a:prstGeom prst="rect">
            <a:avLst/>
          </a:prstGeom>
          <a:noFill/>
        </p:spPr>
        <p:txBody>
          <a:bodyPr wrap="square">
            <a:spAutoFit/>
          </a:bodyPr>
          <a:lstStyle/>
          <a:p>
            <a:r>
              <a:rPr lang="en-IN" b="1" dirty="0"/>
              <a:t>Issue &amp; Return:</a:t>
            </a:r>
          </a:p>
          <a:p>
            <a:pPr algn="just"/>
            <a:r>
              <a:rPr lang="en-IN" dirty="0"/>
              <a:t>Enables the admin to issue books to members with due dates, track borrowing records, and process book returns.</a:t>
            </a:r>
          </a:p>
        </p:txBody>
      </p:sp>
    </p:spTree>
    <p:extLst>
      <p:ext uri="{BB962C8B-B14F-4D97-AF65-F5344CB8AC3E}">
        <p14:creationId xmlns:p14="http://schemas.microsoft.com/office/powerpoint/2010/main" val="297642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C273D-18C9-8054-6302-A72F52ECD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893DF-B945-F74B-5324-7341C4467EA3}"/>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1F34C4C2-6A09-166A-C572-AD487BA99B9C}"/>
              </a:ext>
            </a:extLst>
          </p:cNvPr>
          <p:cNvSpPr txBox="1"/>
          <p:nvPr/>
        </p:nvSpPr>
        <p:spPr>
          <a:xfrm>
            <a:off x="898358" y="2810925"/>
            <a:ext cx="2374232" cy="1200329"/>
          </a:xfrm>
          <a:prstGeom prst="rect">
            <a:avLst/>
          </a:prstGeom>
          <a:noFill/>
        </p:spPr>
        <p:txBody>
          <a:bodyPr wrap="square">
            <a:spAutoFit/>
          </a:bodyPr>
          <a:lstStyle/>
          <a:p>
            <a:r>
              <a:rPr lang="en-IN" b="1" dirty="0"/>
              <a:t>Circulation Page</a:t>
            </a:r>
            <a:endParaRPr lang="en-IN" dirty="0"/>
          </a:p>
          <a:p>
            <a:pPr lvl="0"/>
            <a:r>
              <a:rPr lang="en-IN" dirty="0"/>
              <a:t>Provides book issue and return functionality.</a:t>
            </a:r>
          </a:p>
        </p:txBody>
      </p:sp>
      <p:pic>
        <p:nvPicPr>
          <p:cNvPr id="3" name="Picture 2">
            <a:extLst>
              <a:ext uri="{FF2B5EF4-FFF2-40B4-BE49-F238E27FC236}">
                <a16:creationId xmlns:a16="http://schemas.microsoft.com/office/drawing/2014/main" id="{39D5D4E9-390E-019D-C5E8-9352564456E2}"/>
              </a:ext>
            </a:extLst>
          </p:cNvPr>
          <p:cNvPicPr>
            <a:picLocks noChangeAspect="1"/>
          </p:cNvPicPr>
          <p:nvPr/>
        </p:nvPicPr>
        <p:blipFill>
          <a:blip r:embed="rId2"/>
          <a:stretch>
            <a:fillRect/>
          </a:stretch>
        </p:blipFill>
        <p:spPr>
          <a:xfrm>
            <a:off x="3370836" y="1857140"/>
            <a:ext cx="8063397" cy="4016512"/>
          </a:xfrm>
          <a:prstGeom prst="rect">
            <a:avLst/>
          </a:prstGeom>
        </p:spPr>
      </p:pic>
    </p:spTree>
    <p:extLst>
      <p:ext uri="{BB962C8B-B14F-4D97-AF65-F5344CB8AC3E}">
        <p14:creationId xmlns:p14="http://schemas.microsoft.com/office/powerpoint/2010/main" val="269597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EE54-BB5B-1B97-2EBD-99C25BF6E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6FD3A-8DFE-2BC2-61B5-2116D6A5CFEF}"/>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6" name="Picture 5">
            <a:extLst>
              <a:ext uri="{FF2B5EF4-FFF2-40B4-BE49-F238E27FC236}">
                <a16:creationId xmlns:a16="http://schemas.microsoft.com/office/drawing/2014/main" id="{3B9F86D4-4735-AE86-05B4-6A6FCB695AB1}"/>
              </a:ext>
            </a:extLst>
          </p:cNvPr>
          <p:cNvPicPr>
            <a:picLocks noChangeAspect="1"/>
          </p:cNvPicPr>
          <p:nvPr/>
        </p:nvPicPr>
        <p:blipFill>
          <a:blip r:embed="rId2"/>
          <a:stretch>
            <a:fillRect/>
          </a:stretch>
        </p:blipFill>
        <p:spPr>
          <a:xfrm>
            <a:off x="3708992" y="1828801"/>
            <a:ext cx="8110587" cy="4008681"/>
          </a:xfrm>
          <a:prstGeom prst="rect">
            <a:avLst/>
          </a:prstGeom>
        </p:spPr>
      </p:pic>
      <p:sp>
        <p:nvSpPr>
          <p:cNvPr id="8" name="TextBox 7">
            <a:extLst>
              <a:ext uri="{FF2B5EF4-FFF2-40B4-BE49-F238E27FC236}">
                <a16:creationId xmlns:a16="http://schemas.microsoft.com/office/drawing/2014/main" id="{FE8B4AFE-0D34-6F96-5576-B41BBE7D9DF5}"/>
              </a:ext>
            </a:extLst>
          </p:cNvPr>
          <p:cNvSpPr txBox="1"/>
          <p:nvPr/>
        </p:nvSpPr>
        <p:spPr>
          <a:xfrm>
            <a:off x="923027" y="2618594"/>
            <a:ext cx="2587924" cy="2585323"/>
          </a:xfrm>
          <a:prstGeom prst="rect">
            <a:avLst/>
          </a:prstGeom>
          <a:noFill/>
        </p:spPr>
        <p:txBody>
          <a:bodyPr wrap="square">
            <a:spAutoFit/>
          </a:bodyPr>
          <a:lstStyle/>
          <a:p>
            <a:r>
              <a:rPr lang="en-IN" b="1" dirty="0"/>
              <a:t>Reports:</a:t>
            </a:r>
            <a:r>
              <a:rPr lang="en-IN" dirty="0"/>
              <a:t> </a:t>
            </a:r>
          </a:p>
          <a:p>
            <a:pPr algn="just"/>
            <a:r>
              <a:rPr lang="en-IN" dirty="0"/>
              <a:t>Displays library statistics, including total book copies, available books, currently issued books, registered members, and overdue issues.</a:t>
            </a:r>
          </a:p>
        </p:txBody>
      </p:sp>
    </p:spTree>
    <p:extLst>
      <p:ext uri="{BB962C8B-B14F-4D97-AF65-F5344CB8AC3E}">
        <p14:creationId xmlns:p14="http://schemas.microsoft.com/office/powerpoint/2010/main" val="2150890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012A-BCB6-47AF-0EDA-2DC802FD6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3E74C-ECF7-E210-0466-7E54336DB11A}"/>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478F9FE5-C5B1-FFD8-4806-BEEBB6F7B313}"/>
              </a:ext>
            </a:extLst>
          </p:cNvPr>
          <p:cNvSpPr txBox="1"/>
          <p:nvPr/>
        </p:nvSpPr>
        <p:spPr>
          <a:xfrm>
            <a:off x="854016" y="2810925"/>
            <a:ext cx="2967487" cy="1477328"/>
          </a:xfrm>
          <a:prstGeom prst="rect">
            <a:avLst/>
          </a:prstGeom>
          <a:noFill/>
        </p:spPr>
        <p:txBody>
          <a:bodyPr wrap="square">
            <a:spAutoFit/>
          </a:bodyPr>
          <a:lstStyle/>
          <a:p>
            <a:pPr algn="just"/>
            <a:r>
              <a:rPr lang="en-IN" b="1" dirty="0"/>
              <a:t>Member Dashboard:</a:t>
            </a:r>
            <a:r>
              <a:rPr lang="en-IN" dirty="0"/>
              <a:t> Displays an overview of the library with selected books and their availability.</a:t>
            </a:r>
          </a:p>
        </p:txBody>
      </p:sp>
      <p:pic>
        <p:nvPicPr>
          <p:cNvPr id="4" name="Picture 3">
            <a:extLst>
              <a:ext uri="{FF2B5EF4-FFF2-40B4-BE49-F238E27FC236}">
                <a16:creationId xmlns:a16="http://schemas.microsoft.com/office/drawing/2014/main" id="{0FF72E96-E2A6-7863-EA3C-B7278C69537F}"/>
              </a:ext>
            </a:extLst>
          </p:cNvPr>
          <p:cNvPicPr>
            <a:picLocks noChangeAspect="1"/>
          </p:cNvPicPr>
          <p:nvPr/>
        </p:nvPicPr>
        <p:blipFill>
          <a:blip r:embed="rId2"/>
          <a:stretch>
            <a:fillRect/>
          </a:stretch>
        </p:blipFill>
        <p:spPr>
          <a:xfrm>
            <a:off x="3947636" y="2018581"/>
            <a:ext cx="7715055" cy="3819063"/>
          </a:xfrm>
          <a:prstGeom prst="rect">
            <a:avLst/>
          </a:prstGeom>
        </p:spPr>
      </p:pic>
    </p:spTree>
    <p:extLst>
      <p:ext uri="{BB962C8B-B14F-4D97-AF65-F5344CB8AC3E}">
        <p14:creationId xmlns:p14="http://schemas.microsoft.com/office/powerpoint/2010/main" val="3903157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8137-6C98-DA58-657A-EA6CCF195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D0C3D-A016-B39C-BC61-6593258C46F6}"/>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6" name="TextBox 5">
            <a:extLst>
              <a:ext uri="{FF2B5EF4-FFF2-40B4-BE49-F238E27FC236}">
                <a16:creationId xmlns:a16="http://schemas.microsoft.com/office/drawing/2014/main" id="{00C19F09-63EF-D401-F70A-A8D598B63624}"/>
              </a:ext>
            </a:extLst>
          </p:cNvPr>
          <p:cNvSpPr txBox="1"/>
          <p:nvPr/>
        </p:nvSpPr>
        <p:spPr>
          <a:xfrm>
            <a:off x="925186" y="2786180"/>
            <a:ext cx="3048719" cy="1477328"/>
          </a:xfrm>
          <a:prstGeom prst="rect">
            <a:avLst/>
          </a:prstGeom>
          <a:noFill/>
        </p:spPr>
        <p:txBody>
          <a:bodyPr wrap="square">
            <a:spAutoFit/>
          </a:bodyPr>
          <a:lstStyle/>
          <a:p>
            <a:pPr lvl="0" algn="just"/>
            <a:r>
              <a:rPr lang="en-IN" b="1" dirty="0"/>
              <a:t>Book Catalogue:</a:t>
            </a:r>
          </a:p>
          <a:p>
            <a:pPr lvl="0" algn="just"/>
            <a:r>
              <a:rPr lang="en-IN" dirty="0"/>
              <a:t>Implements book search by title, author, or ISBN and displays book details, availability. </a:t>
            </a:r>
          </a:p>
        </p:txBody>
      </p:sp>
      <p:pic>
        <p:nvPicPr>
          <p:cNvPr id="7" name="Picture 6">
            <a:extLst>
              <a:ext uri="{FF2B5EF4-FFF2-40B4-BE49-F238E27FC236}">
                <a16:creationId xmlns:a16="http://schemas.microsoft.com/office/drawing/2014/main" id="{C0B90FBD-3549-E0AB-2AC4-2C437D476F2B}"/>
              </a:ext>
            </a:extLst>
          </p:cNvPr>
          <p:cNvPicPr>
            <a:picLocks noChangeAspect="1"/>
          </p:cNvPicPr>
          <p:nvPr/>
        </p:nvPicPr>
        <p:blipFill>
          <a:blip r:embed="rId2"/>
          <a:stretch>
            <a:fillRect/>
          </a:stretch>
        </p:blipFill>
        <p:spPr>
          <a:xfrm>
            <a:off x="4297185" y="1975115"/>
            <a:ext cx="7341500" cy="3680510"/>
          </a:xfrm>
          <a:prstGeom prst="rect">
            <a:avLst/>
          </a:prstGeom>
        </p:spPr>
      </p:pic>
    </p:spTree>
    <p:extLst>
      <p:ext uri="{BB962C8B-B14F-4D97-AF65-F5344CB8AC3E}">
        <p14:creationId xmlns:p14="http://schemas.microsoft.com/office/powerpoint/2010/main" val="1318843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3009753-C4D8-9F9F-5F3B-413B1F1F1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C0CA3-23DD-EDD9-49C4-2C279BCB2375}"/>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7CCD7-6301-746C-76DD-6268EF867F44}"/>
              </a:ext>
            </a:extLst>
          </p:cNvPr>
          <p:cNvSpPr>
            <a:spLocks noGrp="1"/>
          </p:cNvSpPr>
          <p:nvPr>
            <p:ph idx="1"/>
          </p:nvPr>
        </p:nvSpPr>
        <p:spPr>
          <a:xfrm>
            <a:off x="755652" y="1752600"/>
            <a:ext cx="5773486" cy="4267200"/>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r>
              <a:rPr lang="en-IN" sz="2200" b="1" dirty="0"/>
              <a:t>Frontend Implementation</a:t>
            </a:r>
          </a:p>
          <a:p>
            <a:pPr lvl="0"/>
            <a:r>
              <a:rPr lang="en-IN" sz="2200" dirty="0"/>
              <a:t>Developed using React.js. </a:t>
            </a:r>
          </a:p>
          <a:p>
            <a:pPr lvl="0"/>
            <a:r>
              <a:rPr lang="en-IN" sz="2200" dirty="0"/>
              <a:t>Uses reusable components to organize the interface. </a:t>
            </a:r>
          </a:p>
          <a:p>
            <a:pPr lvl="0"/>
            <a:r>
              <a:rPr lang="en-IN" sz="2200" dirty="0"/>
              <a:t>Implements interactive elements using JavaScript. </a:t>
            </a:r>
          </a:p>
          <a:p>
            <a:pPr lvl="0"/>
            <a:r>
              <a:rPr lang="en-IN" sz="2200" dirty="0"/>
              <a:t>Uses CSS for styling and layout. </a:t>
            </a:r>
          </a:p>
          <a:p>
            <a:pPr lvl="0"/>
            <a:r>
              <a:rPr lang="en-IN" sz="2200" dirty="0"/>
              <a:t>Communicates with backend endpoints to retrieve and update information.</a:t>
            </a: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A7D0B201-DC21-176D-8468-438E886D7886}"/>
              </a:ext>
            </a:extLst>
          </p:cNvPr>
          <p:cNvSpPr txBox="1">
            <a:spLocks/>
          </p:cNvSpPr>
          <p:nvPr/>
        </p:nvSpPr>
        <p:spPr bwMode="auto">
          <a:xfrm>
            <a:off x="6418514" y="1752600"/>
            <a:ext cx="5436602"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buNone/>
            </a:pPr>
            <a:r>
              <a:rPr lang="en-IN" sz="2200" b="1" dirty="0"/>
              <a:t>Backend Implementation</a:t>
            </a:r>
          </a:p>
          <a:p>
            <a:pPr lvl="0"/>
            <a:r>
              <a:rPr lang="en-IN" sz="2200" dirty="0"/>
              <a:t>Developed using PHP. </a:t>
            </a:r>
          </a:p>
          <a:p>
            <a:pPr lvl="0"/>
            <a:r>
              <a:rPr lang="en-IN" sz="2200" dirty="0"/>
              <a:t>Handles HTTP requests from the frontend. </a:t>
            </a:r>
          </a:p>
          <a:p>
            <a:pPr lvl="0"/>
            <a:r>
              <a:rPr lang="en-IN" sz="2200" dirty="0"/>
              <a:t>Validates input and processes application logic. </a:t>
            </a:r>
          </a:p>
          <a:p>
            <a:pPr lvl="0"/>
            <a:r>
              <a:rPr lang="en-IN" sz="2200" dirty="0"/>
              <a:t>Executes database operations using MySQL. </a:t>
            </a:r>
          </a:p>
          <a:p>
            <a:pPr lvl="0"/>
            <a:r>
              <a:rPr lang="en-IN" sz="2200" dirty="0"/>
              <a:t>Returns responses to the frontend in JSON format.</a:t>
            </a:r>
          </a:p>
        </p:txBody>
      </p:sp>
    </p:spTree>
    <p:extLst>
      <p:ext uri="{BB962C8B-B14F-4D97-AF65-F5344CB8AC3E}">
        <p14:creationId xmlns:p14="http://schemas.microsoft.com/office/powerpoint/2010/main" val="205103074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3216B017-BAED-5922-1D37-33AFB675A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85BA-E836-8B54-30B7-C0FE711C40A9}"/>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F132A46-1A1D-9B99-FB6C-2DD9AF445D40}"/>
              </a:ext>
            </a:extLst>
          </p:cNvPr>
          <p:cNvPicPr>
            <a:picLocks noChangeAspect="1"/>
          </p:cNvPicPr>
          <p:nvPr/>
        </p:nvPicPr>
        <p:blipFill>
          <a:blip r:embed="rId4"/>
          <a:stretch>
            <a:fillRect/>
          </a:stretch>
        </p:blipFill>
        <p:spPr>
          <a:xfrm>
            <a:off x="766233" y="2211373"/>
            <a:ext cx="5555484" cy="1339268"/>
          </a:xfrm>
          <a:prstGeom prst="rect">
            <a:avLst/>
          </a:prstGeom>
        </p:spPr>
      </p:pic>
      <p:sp>
        <p:nvSpPr>
          <p:cNvPr id="9" name="TextBox 8">
            <a:extLst>
              <a:ext uri="{FF2B5EF4-FFF2-40B4-BE49-F238E27FC236}">
                <a16:creationId xmlns:a16="http://schemas.microsoft.com/office/drawing/2014/main" id="{098272B7-131E-56FB-EC28-473870DBF40C}"/>
              </a:ext>
            </a:extLst>
          </p:cNvPr>
          <p:cNvSpPr txBox="1"/>
          <p:nvPr/>
        </p:nvSpPr>
        <p:spPr>
          <a:xfrm>
            <a:off x="6513095" y="2096177"/>
            <a:ext cx="5358063" cy="1569660"/>
          </a:xfrm>
          <a:prstGeom prst="rect">
            <a:avLst/>
          </a:prstGeom>
          <a:noFill/>
        </p:spPr>
        <p:txBody>
          <a:bodyPr wrap="square">
            <a:spAutoFit/>
          </a:bodyPr>
          <a:lstStyle/>
          <a:p>
            <a:pPr>
              <a:buNone/>
            </a:pPr>
            <a:r>
              <a:rPr lang="en-IN" sz="1600" b="1" dirty="0"/>
              <a:t>Techniques used:</a:t>
            </a:r>
            <a:endParaRPr lang="en-IN" sz="1600" dirty="0"/>
          </a:p>
          <a:p>
            <a:pPr marL="342900" lvl="0" indent="-342900">
              <a:buFont typeface="Arial" panose="020B0604020202020204" pitchFamily="34" charset="0"/>
              <a:buChar char="•"/>
            </a:pPr>
            <a:r>
              <a:rPr lang="en-IN" sz="1600" dirty="0" err="1">
                <a:latin typeface="+mn-lt"/>
              </a:rPr>
              <a:t>useState</a:t>
            </a:r>
            <a:r>
              <a:rPr lang="en-IN" sz="1600" dirty="0">
                <a:latin typeface="+mn-lt"/>
              </a:rPr>
              <a:t>()</a:t>
            </a:r>
            <a:r>
              <a:rPr lang="en-IN" sz="1600" dirty="0"/>
              <a:t> manages book data, search input, and messages. </a:t>
            </a:r>
          </a:p>
          <a:p>
            <a:pPr marL="342900" lvl="0" indent="-342900">
              <a:buFont typeface="Arial" panose="020B0604020202020204" pitchFamily="34" charset="0"/>
              <a:buChar char="•"/>
            </a:pPr>
            <a:r>
              <a:rPr lang="en-IN" sz="1600" dirty="0" err="1">
                <a:latin typeface="+mn-lt"/>
              </a:rPr>
              <a:t>useEffect</a:t>
            </a:r>
            <a:r>
              <a:rPr lang="en-IN" sz="1600" dirty="0">
                <a:latin typeface="+mn-lt"/>
              </a:rPr>
              <a:t>()</a:t>
            </a:r>
            <a:r>
              <a:rPr lang="en-IN" sz="1600" dirty="0"/>
              <a:t> handles data loading when the search query changes. </a:t>
            </a:r>
          </a:p>
          <a:p>
            <a:pPr marL="342900" lvl="0" indent="-342900">
              <a:buFont typeface="Arial" panose="020B0604020202020204" pitchFamily="34" charset="0"/>
              <a:buChar char="•"/>
            </a:pPr>
            <a:r>
              <a:rPr lang="en-IN" sz="1600" dirty="0"/>
              <a:t>React hooks manage dynamic UI updates. </a:t>
            </a:r>
          </a:p>
        </p:txBody>
      </p:sp>
      <p:sp>
        <p:nvSpPr>
          <p:cNvPr id="13" name="TextBox 12">
            <a:extLst>
              <a:ext uri="{FF2B5EF4-FFF2-40B4-BE49-F238E27FC236}">
                <a16:creationId xmlns:a16="http://schemas.microsoft.com/office/drawing/2014/main" id="{E2A1D3F8-7FA7-B504-255C-BB7287F5CE13}"/>
              </a:ext>
            </a:extLst>
          </p:cNvPr>
          <p:cNvSpPr txBox="1"/>
          <p:nvPr/>
        </p:nvSpPr>
        <p:spPr>
          <a:xfrm>
            <a:off x="641683" y="1739032"/>
            <a:ext cx="7363327" cy="369332"/>
          </a:xfrm>
          <a:prstGeom prst="rect">
            <a:avLst/>
          </a:prstGeom>
          <a:noFill/>
        </p:spPr>
        <p:txBody>
          <a:bodyPr wrap="square">
            <a:spAutoFit/>
          </a:bodyPr>
          <a:lstStyle/>
          <a:p>
            <a:r>
              <a:rPr lang="en-US" b="1" dirty="0"/>
              <a:t>Technique: State Management and Hooks (</a:t>
            </a:r>
            <a:r>
              <a:rPr lang="en-US" b="1" dirty="0" err="1"/>
              <a:t>Books.jsx</a:t>
            </a:r>
            <a:r>
              <a:rPr lang="en-US" b="1" dirty="0"/>
              <a:t>)</a:t>
            </a:r>
            <a:endParaRPr lang="en-IN" b="1" dirty="0"/>
          </a:p>
        </p:txBody>
      </p:sp>
      <p:sp>
        <p:nvSpPr>
          <p:cNvPr id="15" name="TextBox 14">
            <a:extLst>
              <a:ext uri="{FF2B5EF4-FFF2-40B4-BE49-F238E27FC236}">
                <a16:creationId xmlns:a16="http://schemas.microsoft.com/office/drawing/2014/main" id="{E3F6D961-C596-B3A4-37BD-A8142FAB9C79}"/>
              </a:ext>
            </a:extLst>
          </p:cNvPr>
          <p:cNvSpPr txBox="1"/>
          <p:nvPr/>
        </p:nvSpPr>
        <p:spPr>
          <a:xfrm>
            <a:off x="641684" y="3694478"/>
            <a:ext cx="7539790" cy="369332"/>
          </a:xfrm>
          <a:prstGeom prst="rect">
            <a:avLst/>
          </a:prstGeom>
          <a:noFill/>
        </p:spPr>
        <p:txBody>
          <a:bodyPr wrap="square">
            <a:spAutoFit/>
          </a:bodyPr>
          <a:lstStyle/>
          <a:p>
            <a:pPr>
              <a:buNone/>
            </a:pPr>
            <a:r>
              <a:rPr lang="en-IN" b="1" dirty="0"/>
              <a:t>Technique: API Integration and Debouncing (</a:t>
            </a:r>
            <a:r>
              <a:rPr lang="en-IN" b="1" dirty="0" err="1"/>
              <a:t>Books.jsx</a:t>
            </a:r>
            <a:r>
              <a:rPr lang="en-IN" b="1" dirty="0"/>
              <a:t>)</a:t>
            </a:r>
            <a:endParaRPr lang="en-IN" dirty="0"/>
          </a:p>
        </p:txBody>
      </p:sp>
      <p:pic>
        <p:nvPicPr>
          <p:cNvPr id="17" name="Picture 16">
            <a:extLst>
              <a:ext uri="{FF2B5EF4-FFF2-40B4-BE49-F238E27FC236}">
                <a16:creationId xmlns:a16="http://schemas.microsoft.com/office/drawing/2014/main" id="{E6D747D6-6639-07CB-3306-AB20C4D1EDC0}"/>
              </a:ext>
            </a:extLst>
          </p:cNvPr>
          <p:cNvPicPr>
            <a:picLocks noChangeAspect="1"/>
          </p:cNvPicPr>
          <p:nvPr/>
        </p:nvPicPr>
        <p:blipFill>
          <a:blip r:embed="rId5"/>
          <a:stretch>
            <a:fillRect/>
          </a:stretch>
        </p:blipFill>
        <p:spPr>
          <a:xfrm>
            <a:off x="774270" y="4101577"/>
            <a:ext cx="5016930" cy="2070356"/>
          </a:xfrm>
          <a:prstGeom prst="rect">
            <a:avLst/>
          </a:prstGeom>
        </p:spPr>
      </p:pic>
      <p:sp>
        <p:nvSpPr>
          <p:cNvPr id="19" name="TextBox 18">
            <a:extLst>
              <a:ext uri="{FF2B5EF4-FFF2-40B4-BE49-F238E27FC236}">
                <a16:creationId xmlns:a16="http://schemas.microsoft.com/office/drawing/2014/main" id="{0470E1B8-0FD2-EF68-ECB4-84D85996316A}"/>
              </a:ext>
            </a:extLst>
          </p:cNvPr>
          <p:cNvSpPr txBox="1"/>
          <p:nvPr/>
        </p:nvSpPr>
        <p:spPr>
          <a:xfrm>
            <a:off x="6256421" y="4574842"/>
            <a:ext cx="5614737" cy="1354217"/>
          </a:xfrm>
          <a:prstGeom prst="rect">
            <a:avLst/>
          </a:prstGeom>
          <a:noFill/>
        </p:spPr>
        <p:txBody>
          <a:bodyPr wrap="square">
            <a:spAutoFit/>
          </a:bodyPr>
          <a:lstStyle/>
          <a:p>
            <a:pPr>
              <a:buNone/>
            </a:pPr>
            <a:r>
              <a:rPr lang="en-IN" sz="1600" b="1" dirty="0"/>
              <a:t>Techniques used:</a:t>
            </a:r>
            <a:endParaRPr lang="en-IN" sz="1600" dirty="0"/>
          </a:p>
          <a:p>
            <a:pPr marL="342900" lvl="0" indent="-342900">
              <a:buFont typeface="Arial" panose="020B0604020202020204" pitchFamily="34" charset="0"/>
              <a:buChar char="•"/>
            </a:pPr>
            <a:r>
              <a:rPr lang="en-IN" sz="1600" dirty="0"/>
              <a:t>Fetches book records through the API service. </a:t>
            </a:r>
          </a:p>
          <a:p>
            <a:pPr marL="342900" lvl="0" indent="-342900">
              <a:buFont typeface="Arial" panose="020B0604020202020204" pitchFamily="34" charset="0"/>
              <a:buChar char="•"/>
            </a:pPr>
            <a:r>
              <a:rPr lang="en-IN" sz="1600" dirty="0"/>
              <a:t>Implements a 250 ms delay to reduce frequent search requests. </a:t>
            </a:r>
          </a:p>
          <a:p>
            <a:pPr marL="342900" lvl="0" indent="-342900">
              <a:buFont typeface="Arial" panose="020B0604020202020204" pitchFamily="34" charset="0"/>
              <a:buChar char="•"/>
            </a:pPr>
            <a:r>
              <a:rPr lang="en-IN" sz="1600" dirty="0"/>
              <a:t>Uses error handling to display failures.</a:t>
            </a:r>
          </a:p>
        </p:txBody>
      </p:sp>
    </p:spTree>
    <p:extLst>
      <p:ext uri="{BB962C8B-B14F-4D97-AF65-F5344CB8AC3E}">
        <p14:creationId xmlns:p14="http://schemas.microsoft.com/office/powerpoint/2010/main" val="313901366"/>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6FFDDFE-5A07-43F4-E055-5400BB9C7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DB717-BF52-F96B-9161-7171E55BAAF6}"/>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B5AE890-935F-DB95-9FD0-92EA3CAB39C0}"/>
              </a:ext>
            </a:extLst>
          </p:cNvPr>
          <p:cNvPicPr>
            <a:picLocks noChangeAspect="1"/>
          </p:cNvPicPr>
          <p:nvPr/>
        </p:nvPicPr>
        <p:blipFill>
          <a:blip r:embed="rId4"/>
          <a:stretch>
            <a:fillRect/>
          </a:stretch>
        </p:blipFill>
        <p:spPr>
          <a:xfrm>
            <a:off x="949928" y="2451758"/>
            <a:ext cx="4648767" cy="473157"/>
          </a:xfrm>
          <a:prstGeom prst="rect">
            <a:avLst/>
          </a:prstGeom>
        </p:spPr>
      </p:pic>
      <p:pic>
        <p:nvPicPr>
          <p:cNvPr id="23" name="Picture 22">
            <a:extLst>
              <a:ext uri="{FF2B5EF4-FFF2-40B4-BE49-F238E27FC236}">
                <a16:creationId xmlns:a16="http://schemas.microsoft.com/office/drawing/2014/main" id="{B04CB440-63A3-5250-AF92-AE0C91E61856}"/>
              </a:ext>
            </a:extLst>
          </p:cNvPr>
          <p:cNvPicPr>
            <a:picLocks noChangeAspect="1"/>
          </p:cNvPicPr>
          <p:nvPr/>
        </p:nvPicPr>
        <p:blipFill>
          <a:blip r:embed="rId5"/>
          <a:stretch>
            <a:fillRect/>
          </a:stretch>
        </p:blipFill>
        <p:spPr>
          <a:xfrm>
            <a:off x="949928" y="3273229"/>
            <a:ext cx="4648768" cy="1807297"/>
          </a:xfrm>
          <a:prstGeom prst="rect">
            <a:avLst/>
          </a:prstGeom>
        </p:spPr>
      </p:pic>
      <p:sp>
        <p:nvSpPr>
          <p:cNvPr id="25" name="TextBox 24">
            <a:extLst>
              <a:ext uri="{FF2B5EF4-FFF2-40B4-BE49-F238E27FC236}">
                <a16:creationId xmlns:a16="http://schemas.microsoft.com/office/drawing/2014/main" id="{31D69A1F-07DD-B293-58E4-105C40E7A823}"/>
              </a:ext>
            </a:extLst>
          </p:cNvPr>
          <p:cNvSpPr txBox="1"/>
          <p:nvPr/>
        </p:nvSpPr>
        <p:spPr>
          <a:xfrm>
            <a:off x="6096000" y="2830071"/>
            <a:ext cx="4973053" cy="1807296"/>
          </a:xfrm>
          <a:prstGeom prst="rect">
            <a:avLst/>
          </a:prstGeom>
          <a:noFill/>
        </p:spPr>
        <p:txBody>
          <a:bodyPr wrap="square">
            <a:spAutoFit/>
          </a:bodyPr>
          <a:lstStyle/>
          <a:p>
            <a:pPr>
              <a:buNone/>
            </a:pPr>
            <a:r>
              <a:rPr lang="en-IN" b="1" dirty="0"/>
              <a:t>Techniques used:</a:t>
            </a:r>
            <a:endParaRPr lang="en-IN" dirty="0"/>
          </a:p>
          <a:p>
            <a:pPr marL="342900" lvl="0" indent="-342900">
              <a:buFont typeface="Arial" panose="020B0604020202020204" pitchFamily="34" charset="0"/>
              <a:buChar char="•"/>
            </a:pPr>
            <a:r>
              <a:rPr lang="en-IN" dirty="0"/>
              <a:t>Identifies the logged-in user's role. </a:t>
            </a:r>
          </a:p>
          <a:p>
            <a:pPr marL="342900" lvl="0" indent="-342900">
              <a:buFont typeface="Arial" panose="020B0604020202020204" pitchFamily="34" charset="0"/>
              <a:buChar char="•"/>
            </a:pPr>
            <a:r>
              <a:rPr lang="en-IN" dirty="0"/>
              <a:t>Displays administrative controls only to admins. </a:t>
            </a:r>
          </a:p>
          <a:p>
            <a:pPr marL="342900" lvl="0" indent="-342900">
              <a:buFont typeface="Arial" panose="020B0604020202020204" pitchFamily="34" charset="0"/>
              <a:buChar char="•"/>
            </a:pPr>
            <a:r>
              <a:rPr lang="en-IN" dirty="0"/>
              <a:t>Separates admin book management from member book browsing. </a:t>
            </a:r>
          </a:p>
        </p:txBody>
      </p:sp>
      <p:sp>
        <p:nvSpPr>
          <p:cNvPr id="27" name="TextBox 26">
            <a:extLst>
              <a:ext uri="{FF2B5EF4-FFF2-40B4-BE49-F238E27FC236}">
                <a16:creationId xmlns:a16="http://schemas.microsoft.com/office/drawing/2014/main" id="{9D081906-496C-82E1-2C76-96705C548557}"/>
              </a:ext>
            </a:extLst>
          </p:cNvPr>
          <p:cNvSpPr txBox="1"/>
          <p:nvPr/>
        </p:nvSpPr>
        <p:spPr>
          <a:xfrm>
            <a:off x="766233" y="1869140"/>
            <a:ext cx="6982104" cy="369332"/>
          </a:xfrm>
          <a:prstGeom prst="rect">
            <a:avLst/>
          </a:prstGeom>
          <a:noFill/>
        </p:spPr>
        <p:txBody>
          <a:bodyPr wrap="square">
            <a:spAutoFit/>
          </a:bodyPr>
          <a:lstStyle/>
          <a:p>
            <a:pPr>
              <a:buNone/>
            </a:pPr>
            <a:r>
              <a:rPr lang="en-IN" b="1" dirty="0"/>
              <a:t>Technique: Role-Based Access Control (</a:t>
            </a:r>
            <a:r>
              <a:rPr lang="en-IN" b="1" dirty="0" err="1"/>
              <a:t>Books.jsx</a:t>
            </a:r>
            <a:r>
              <a:rPr lang="en-IN" b="1" dirty="0"/>
              <a:t>)</a:t>
            </a:r>
            <a:endParaRPr lang="en-IN" dirty="0"/>
          </a:p>
        </p:txBody>
      </p:sp>
    </p:spTree>
    <p:extLst>
      <p:ext uri="{BB962C8B-B14F-4D97-AF65-F5344CB8AC3E}">
        <p14:creationId xmlns:p14="http://schemas.microsoft.com/office/powerpoint/2010/main" val="2419904725"/>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9A8F0595-4BA6-DF7E-C379-9ADBE10F1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6FFE9-A207-749C-2E0B-E68D54509A46}"/>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F9A70C-3D0A-E6E1-2ABB-8A80E6BBD7F0}"/>
              </a:ext>
            </a:extLst>
          </p:cNvPr>
          <p:cNvSpPr txBox="1"/>
          <p:nvPr/>
        </p:nvSpPr>
        <p:spPr>
          <a:xfrm>
            <a:off x="766232" y="1718837"/>
            <a:ext cx="8201305" cy="369332"/>
          </a:xfrm>
          <a:prstGeom prst="rect">
            <a:avLst/>
          </a:prstGeom>
          <a:noFill/>
        </p:spPr>
        <p:txBody>
          <a:bodyPr wrap="square">
            <a:spAutoFit/>
          </a:bodyPr>
          <a:lstStyle/>
          <a:p>
            <a:r>
              <a:rPr lang="en-IN" b="1" dirty="0"/>
              <a:t>Technique: Form Handling and CRUD Operations (</a:t>
            </a:r>
            <a:r>
              <a:rPr lang="en-IN" b="1" dirty="0" err="1"/>
              <a:t>Books.jsx</a:t>
            </a:r>
            <a:r>
              <a:rPr lang="en-IN" b="1" dirty="0"/>
              <a:t>)</a:t>
            </a:r>
          </a:p>
        </p:txBody>
      </p:sp>
      <p:pic>
        <p:nvPicPr>
          <p:cNvPr id="6" name="Picture 5">
            <a:extLst>
              <a:ext uri="{FF2B5EF4-FFF2-40B4-BE49-F238E27FC236}">
                <a16:creationId xmlns:a16="http://schemas.microsoft.com/office/drawing/2014/main" id="{62318257-11FC-4B82-F148-ED8E0A375084}"/>
              </a:ext>
            </a:extLst>
          </p:cNvPr>
          <p:cNvPicPr>
            <a:picLocks noChangeAspect="1"/>
          </p:cNvPicPr>
          <p:nvPr/>
        </p:nvPicPr>
        <p:blipFill>
          <a:blip r:embed="rId4"/>
          <a:stretch>
            <a:fillRect/>
          </a:stretch>
        </p:blipFill>
        <p:spPr>
          <a:xfrm>
            <a:off x="989200" y="2088169"/>
            <a:ext cx="3566757" cy="4159464"/>
          </a:xfrm>
          <a:prstGeom prst="rect">
            <a:avLst/>
          </a:prstGeom>
        </p:spPr>
      </p:pic>
      <p:sp>
        <p:nvSpPr>
          <p:cNvPr id="10" name="TextBox 9">
            <a:extLst>
              <a:ext uri="{FF2B5EF4-FFF2-40B4-BE49-F238E27FC236}">
                <a16:creationId xmlns:a16="http://schemas.microsoft.com/office/drawing/2014/main" id="{E76460F0-6627-5823-FF70-73BA8C0A3710}"/>
              </a:ext>
            </a:extLst>
          </p:cNvPr>
          <p:cNvSpPr txBox="1"/>
          <p:nvPr/>
        </p:nvSpPr>
        <p:spPr>
          <a:xfrm>
            <a:off x="5342021" y="2738507"/>
            <a:ext cx="5860779" cy="1754326"/>
          </a:xfrm>
          <a:prstGeom prst="rect">
            <a:avLst/>
          </a:prstGeom>
          <a:noFill/>
        </p:spPr>
        <p:txBody>
          <a:bodyPr wrap="square">
            <a:spAutoFit/>
          </a:bodyPr>
          <a:lstStyle/>
          <a:p>
            <a:pPr>
              <a:buNone/>
            </a:pPr>
            <a:r>
              <a:rPr lang="en-IN" b="1" dirty="0"/>
              <a:t>Techniques used:</a:t>
            </a:r>
            <a:endParaRPr lang="en-IN" dirty="0"/>
          </a:p>
          <a:p>
            <a:pPr marL="342900" lvl="0" indent="-342900">
              <a:buFont typeface="Arial" panose="020B0604020202020204" pitchFamily="34" charset="0"/>
              <a:buChar char="•"/>
            </a:pPr>
            <a:r>
              <a:rPr lang="en-IN" dirty="0" err="1">
                <a:latin typeface="+mn-lt"/>
              </a:rPr>
              <a:t>preventDefault</a:t>
            </a:r>
            <a:r>
              <a:rPr lang="en-IN" dirty="0">
                <a:latin typeface="+mn-lt"/>
              </a:rPr>
              <a:t>()</a:t>
            </a:r>
            <a:r>
              <a:rPr lang="en-IN" dirty="0"/>
              <a:t> prevents the form's default submission. </a:t>
            </a:r>
          </a:p>
          <a:p>
            <a:pPr marL="342900" lvl="0" indent="-342900">
              <a:buFont typeface="Arial" panose="020B0604020202020204" pitchFamily="34" charset="0"/>
              <a:buChar char="•"/>
            </a:pPr>
            <a:r>
              <a:rPr lang="en-IN" dirty="0"/>
              <a:t>Supports both adding and updating books. </a:t>
            </a:r>
          </a:p>
          <a:p>
            <a:pPr marL="342900" lvl="0" indent="-342900">
              <a:buFont typeface="Arial" panose="020B0604020202020204" pitchFamily="34" charset="0"/>
              <a:buChar char="•"/>
            </a:pPr>
            <a:r>
              <a:rPr lang="en-IN" dirty="0"/>
              <a:t>Converts the total copies input into a number. </a:t>
            </a:r>
          </a:p>
          <a:p>
            <a:pPr marL="342900" lvl="0" indent="-342900">
              <a:buFont typeface="Arial" panose="020B0604020202020204" pitchFamily="34" charset="0"/>
              <a:buChar char="•"/>
            </a:pPr>
            <a:r>
              <a:rPr lang="en-IN" dirty="0"/>
              <a:t>Handles errors and loading state.</a:t>
            </a:r>
          </a:p>
        </p:txBody>
      </p:sp>
    </p:spTree>
    <p:extLst>
      <p:ext uri="{BB962C8B-B14F-4D97-AF65-F5344CB8AC3E}">
        <p14:creationId xmlns:p14="http://schemas.microsoft.com/office/powerpoint/2010/main" val="3146917238"/>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AA2DB8E3-B9CC-8AEA-25AA-25713380E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AADF6-A85D-23C1-1162-551EC40C6274}"/>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D174F6-0D39-2D33-82A9-B9217ECAB72D}"/>
              </a:ext>
            </a:extLst>
          </p:cNvPr>
          <p:cNvPicPr>
            <a:picLocks noChangeAspect="1"/>
          </p:cNvPicPr>
          <p:nvPr/>
        </p:nvPicPr>
        <p:blipFill>
          <a:blip r:embed="rId4"/>
          <a:stretch>
            <a:fillRect/>
          </a:stretch>
        </p:blipFill>
        <p:spPr>
          <a:xfrm>
            <a:off x="732178" y="2093690"/>
            <a:ext cx="8026813" cy="2991004"/>
          </a:xfrm>
          <a:prstGeom prst="rect">
            <a:avLst/>
          </a:prstGeom>
        </p:spPr>
      </p:pic>
      <p:sp>
        <p:nvSpPr>
          <p:cNvPr id="8" name="TextBox 7">
            <a:extLst>
              <a:ext uri="{FF2B5EF4-FFF2-40B4-BE49-F238E27FC236}">
                <a16:creationId xmlns:a16="http://schemas.microsoft.com/office/drawing/2014/main" id="{B9E6AAD5-E8DB-154C-AACF-89A182DA8FE0}"/>
              </a:ext>
            </a:extLst>
          </p:cNvPr>
          <p:cNvSpPr txBox="1"/>
          <p:nvPr/>
        </p:nvSpPr>
        <p:spPr>
          <a:xfrm>
            <a:off x="8784580" y="1773823"/>
            <a:ext cx="2675242" cy="4401205"/>
          </a:xfrm>
          <a:prstGeom prst="rect">
            <a:avLst/>
          </a:prstGeom>
          <a:noFill/>
        </p:spPr>
        <p:txBody>
          <a:bodyPr wrap="square">
            <a:spAutoFit/>
          </a:bodyPr>
          <a:lstStyle/>
          <a:p>
            <a:pPr>
              <a:buNone/>
            </a:pPr>
            <a:r>
              <a:rPr lang="en-IN" sz="1400" b="1" dirty="0"/>
              <a:t>Techniques Used</a:t>
            </a:r>
          </a:p>
          <a:p>
            <a:pPr marL="342900" lvl="0" indent="-342900">
              <a:buFont typeface="Arial" panose="020B0604020202020204" pitchFamily="34" charset="0"/>
              <a:buChar char="•"/>
            </a:pPr>
            <a:r>
              <a:rPr lang="en-IN" sz="1400" b="1" dirty="0"/>
              <a:t>URL Parsing:</a:t>
            </a:r>
            <a:r>
              <a:rPr lang="en-IN" sz="1400" dirty="0"/>
              <a:t> Identifies the requested API endpoint. </a:t>
            </a:r>
          </a:p>
          <a:p>
            <a:pPr marL="342900" lvl="0" indent="-342900">
              <a:buFont typeface="Arial" panose="020B0604020202020204" pitchFamily="34" charset="0"/>
              <a:buChar char="•"/>
            </a:pPr>
            <a:r>
              <a:rPr lang="en-IN" sz="1400" b="1" dirty="0"/>
              <a:t>Request Routing:</a:t>
            </a:r>
            <a:r>
              <a:rPr lang="en-IN" sz="1400" dirty="0"/>
              <a:t> Directs requests to authentication, books, members, circulation, or reports handlers. </a:t>
            </a:r>
          </a:p>
          <a:p>
            <a:pPr marL="342900" lvl="0" indent="-342900">
              <a:buFont typeface="Arial" panose="020B0604020202020204" pitchFamily="34" charset="0"/>
              <a:buChar char="•"/>
            </a:pPr>
            <a:r>
              <a:rPr lang="en-IN" sz="1400" b="1" dirty="0"/>
              <a:t>HTTP Methods:</a:t>
            </a:r>
            <a:r>
              <a:rPr lang="en-IN" sz="1400" dirty="0"/>
              <a:t> Identifies the request method, such as GET or POST. </a:t>
            </a:r>
          </a:p>
          <a:p>
            <a:pPr marL="342900" lvl="0" indent="-342900">
              <a:buFont typeface="Arial" panose="020B0604020202020204" pitchFamily="34" charset="0"/>
              <a:buChar char="•"/>
            </a:pPr>
            <a:r>
              <a:rPr lang="en-IN" sz="1400" b="1" dirty="0"/>
              <a:t>Error Response:</a:t>
            </a:r>
            <a:r>
              <a:rPr lang="en-IN" sz="1400" dirty="0"/>
              <a:t> Returns HTTP 404 when an endpoint is not found.</a:t>
            </a:r>
          </a:p>
          <a:p>
            <a:pPr marL="342900" lvl="0" indent="-342900">
              <a:buFont typeface="Arial" panose="020B0604020202020204" pitchFamily="34" charset="0"/>
              <a:buChar char="•"/>
            </a:pPr>
            <a:r>
              <a:rPr lang="en-IN" sz="1400" dirty="0"/>
              <a:t>Handles database and unexpected server errors.</a:t>
            </a:r>
          </a:p>
        </p:txBody>
      </p:sp>
      <p:sp>
        <p:nvSpPr>
          <p:cNvPr id="11" name="TextBox 10">
            <a:extLst>
              <a:ext uri="{FF2B5EF4-FFF2-40B4-BE49-F238E27FC236}">
                <a16:creationId xmlns:a16="http://schemas.microsoft.com/office/drawing/2014/main" id="{919C3666-73FC-0B70-643D-F25C91700B00}"/>
              </a:ext>
            </a:extLst>
          </p:cNvPr>
          <p:cNvSpPr txBox="1"/>
          <p:nvPr/>
        </p:nvSpPr>
        <p:spPr>
          <a:xfrm>
            <a:off x="625642" y="1724358"/>
            <a:ext cx="8026812" cy="369332"/>
          </a:xfrm>
          <a:prstGeom prst="rect">
            <a:avLst/>
          </a:prstGeom>
          <a:noFill/>
        </p:spPr>
        <p:txBody>
          <a:bodyPr wrap="square">
            <a:spAutoFit/>
          </a:bodyPr>
          <a:lstStyle/>
          <a:p>
            <a:r>
              <a:rPr lang="en-IN" b="1" dirty="0"/>
              <a:t>Technique: API Routing and Exception Handling (</a:t>
            </a:r>
            <a:r>
              <a:rPr lang="en-IN" b="1" dirty="0" err="1"/>
              <a:t>index.php</a:t>
            </a:r>
            <a:r>
              <a:rPr lang="en-IN" b="1" dirty="0"/>
              <a:t>)</a:t>
            </a:r>
          </a:p>
        </p:txBody>
      </p:sp>
      <p:pic>
        <p:nvPicPr>
          <p:cNvPr id="13" name="Picture 12">
            <a:extLst>
              <a:ext uri="{FF2B5EF4-FFF2-40B4-BE49-F238E27FC236}">
                <a16:creationId xmlns:a16="http://schemas.microsoft.com/office/drawing/2014/main" id="{2FF2BEAD-ACD3-B932-7889-C7E5222441FA}"/>
              </a:ext>
            </a:extLst>
          </p:cNvPr>
          <p:cNvPicPr>
            <a:picLocks noChangeAspect="1"/>
          </p:cNvPicPr>
          <p:nvPr/>
        </p:nvPicPr>
        <p:blipFill>
          <a:blip r:embed="rId5"/>
          <a:stretch>
            <a:fillRect/>
          </a:stretch>
        </p:blipFill>
        <p:spPr>
          <a:xfrm>
            <a:off x="732177" y="5148417"/>
            <a:ext cx="8026814" cy="1026611"/>
          </a:xfrm>
          <a:prstGeom prst="rect">
            <a:avLst/>
          </a:prstGeom>
        </p:spPr>
      </p:pic>
    </p:spTree>
    <p:extLst>
      <p:ext uri="{BB962C8B-B14F-4D97-AF65-F5344CB8AC3E}">
        <p14:creationId xmlns:p14="http://schemas.microsoft.com/office/powerpoint/2010/main" val="1332055416"/>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30AA8391-75DE-0646-7D44-2334B4E34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6EBAA-882B-8F16-92C9-6AE2597E5BB5}"/>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554F0F0-5183-9822-FBCD-04737AC2A827}"/>
              </a:ext>
            </a:extLst>
          </p:cNvPr>
          <p:cNvPicPr>
            <a:picLocks noChangeAspect="1"/>
          </p:cNvPicPr>
          <p:nvPr/>
        </p:nvPicPr>
        <p:blipFill>
          <a:blip r:embed="rId4"/>
          <a:stretch>
            <a:fillRect/>
          </a:stretch>
        </p:blipFill>
        <p:spPr>
          <a:xfrm>
            <a:off x="964277" y="1998662"/>
            <a:ext cx="4512445" cy="4225673"/>
          </a:xfrm>
          <a:prstGeom prst="rect">
            <a:avLst/>
          </a:prstGeom>
        </p:spPr>
      </p:pic>
      <p:sp>
        <p:nvSpPr>
          <p:cNvPr id="8" name="TextBox 7">
            <a:extLst>
              <a:ext uri="{FF2B5EF4-FFF2-40B4-BE49-F238E27FC236}">
                <a16:creationId xmlns:a16="http://schemas.microsoft.com/office/drawing/2014/main" id="{42F15875-D89A-2E92-4E88-747250485E65}"/>
              </a:ext>
            </a:extLst>
          </p:cNvPr>
          <p:cNvSpPr txBox="1"/>
          <p:nvPr/>
        </p:nvSpPr>
        <p:spPr>
          <a:xfrm>
            <a:off x="5476721" y="2140349"/>
            <a:ext cx="6314225" cy="2585323"/>
          </a:xfrm>
          <a:prstGeom prst="rect">
            <a:avLst/>
          </a:prstGeom>
          <a:noFill/>
        </p:spPr>
        <p:txBody>
          <a:bodyPr wrap="square">
            <a:spAutoFit/>
          </a:bodyPr>
          <a:lstStyle/>
          <a:p>
            <a:pPr>
              <a:buNone/>
            </a:pPr>
            <a:r>
              <a:rPr lang="en-IN" b="1" dirty="0"/>
              <a:t>Techniques used:</a:t>
            </a:r>
            <a:endParaRPr lang="en-IN" dirty="0"/>
          </a:p>
          <a:p>
            <a:pPr marL="342900" lvl="0" indent="-342900">
              <a:buFont typeface="Arial" panose="020B0604020202020204" pitchFamily="34" charset="0"/>
              <a:buChar char="•"/>
            </a:pPr>
            <a:r>
              <a:rPr lang="en-IN" dirty="0" err="1">
                <a:latin typeface="+mn-lt"/>
              </a:rPr>
              <a:t>preventDefault</a:t>
            </a:r>
            <a:r>
              <a:rPr lang="en-IN" dirty="0">
                <a:latin typeface="+mn-lt"/>
              </a:rPr>
              <a:t>()</a:t>
            </a:r>
            <a:r>
              <a:rPr lang="en-IN" dirty="0"/>
              <a:t> handles form submission without a page reload. </a:t>
            </a:r>
          </a:p>
          <a:p>
            <a:pPr marL="342900" lvl="0" indent="-342900">
              <a:buFont typeface="Arial" panose="020B0604020202020204" pitchFamily="34" charset="0"/>
              <a:buChar char="•"/>
            </a:pPr>
            <a:r>
              <a:rPr lang="en-IN" dirty="0"/>
              <a:t>API integration sends member details to the backend. </a:t>
            </a:r>
          </a:p>
          <a:p>
            <a:pPr marL="342900" lvl="0" indent="-342900">
              <a:buFont typeface="Arial" panose="020B0604020202020204" pitchFamily="34" charset="0"/>
              <a:buChar char="•"/>
            </a:pPr>
            <a:r>
              <a:rPr lang="en-IN" dirty="0">
                <a:latin typeface="+mn-lt"/>
              </a:rPr>
              <a:t>try-catch-finally</a:t>
            </a:r>
            <a:r>
              <a:rPr lang="en-IN" dirty="0"/>
              <a:t> handles errors and resets the loading state. </a:t>
            </a:r>
          </a:p>
          <a:p>
            <a:pPr marL="342900" lvl="0" indent="-342900">
              <a:buFont typeface="Arial" panose="020B0604020202020204" pitchFamily="34" charset="0"/>
              <a:buChar char="•"/>
            </a:pPr>
            <a:r>
              <a:rPr lang="en-IN" dirty="0"/>
              <a:t>Success and error messages provide feedback to the user.</a:t>
            </a:r>
          </a:p>
        </p:txBody>
      </p:sp>
      <p:sp>
        <p:nvSpPr>
          <p:cNvPr id="10" name="TextBox 9">
            <a:extLst>
              <a:ext uri="{FF2B5EF4-FFF2-40B4-BE49-F238E27FC236}">
                <a16:creationId xmlns:a16="http://schemas.microsoft.com/office/drawing/2014/main" id="{467483E5-7C8C-0BBA-A8BC-068F36AFEA20}"/>
              </a:ext>
            </a:extLst>
          </p:cNvPr>
          <p:cNvSpPr txBox="1"/>
          <p:nvPr/>
        </p:nvSpPr>
        <p:spPr>
          <a:xfrm>
            <a:off x="766233" y="1629330"/>
            <a:ext cx="8842988" cy="369332"/>
          </a:xfrm>
          <a:prstGeom prst="rect">
            <a:avLst/>
          </a:prstGeom>
          <a:noFill/>
        </p:spPr>
        <p:txBody>
          <a:bodyPr wrap="square">
            <a:spAutoFit/>
          </a:bodyPr>
          <a:lstStyle/>
          <a:p>
            <a:pPr>
              <a:buNone/>
            </a:pPr>
            <a:r>
              <a:rPr lang="en-IN" b="1" dirty="0"/>
              <a:t>Technique: CRUD Operations and API Integration (</a:t>
            </a:r>
            <a:r>
              <a:rPr lang="en-IN" b="1" dirty="0" err="1"/>
              <a:t>Members.jsx</a:t>
            </a:r>
            <a:r>
              <a:rPr lang="en-IN" b="1" dirty="0"/>
              <a:t>)</a:t>
            </a:r>
            <a:endParaRPr lang="en-IN" dirty="0"/>
          </a:p>
        </p:txBody>
      </p:sp>
    </p:spTree>
    <p:extLst>
      <p:ext uri="{BB962C8B-B14F-4D97-AF65-F5344CB8AC3E}">
        <p14:creationId xmlns:p14="http://schemas.microsoft.com/office/powerpoint/2010/main" val="2974035309"/>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174BF86-3B11-DD7D-18A0-CEB428733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9C9EB-AFCC-E685-32A5-CD1C5795F51D}"/>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425C829-A8FF-6D72-A73A-9F8AC87157D1}"/>
              </a:ext>
            </a:extLst>
          </p:cNvPr>
          <p:cNvPicPr>
            <a:picLocks noChangeAspect="1"/>
          </p:cNvPicPr>
          <p:nvPr/>
        </p:nvPicPr>
        <p:blipFill>
          <a:blip r:embed="rId4"/>
          <a:stretch>
            <a:fillRect/>
          </a:stretch>
        </p:blipFill>
        <p:spPr>
          <a:xfrm>
            <a:off x="888686" y="2370672"/>
            <a:ext cx="4726053" cy="1293783"/>
          </a:xfrm>
          <a:prstGeom prst="rect">
            <a:avLst/>
          </a:prstGeom>
        </p:spPr>
      </p:pic>
      <p:sp>
        <p:nvSpPr>
          <p:cNvPr id="12" name="TextBox 11">
            <a:extLst>
              <a:ext uri="{FF2B5EF4-FFF2-40B4-BE49-F238E27FC236}">
                <a16:creationId xmlns:a16="http://schemas.microsoft.com/office/drawing/2014/main" id="{FF25648D-8EFF-162B-D8C9-345E53BC74B0}"/>
              </a:ext>
            </a:extLst>
          </p:cNvPr>
          <p:cNvSpPr txBox="1"/>
          <p:nvPr/>
        </p:nvSpPr>
        <p:spPr>
          <a:xfrm>
            <a:off x="397264" y="1994198"/>
            <a:ext cx="6096000" cy="369332"/>
          </a:xfrm>
          <a:prstGeom prst="rect">
            <a:avLst/>
          </a:prstGeom>
          <a:noFill/>
        </p:spPr>
        <p:txBody>
          <a:bodyPr wrap="square">
            <a:spAutoFit/>
          </a:bodyPr>
          <a:lstStyle/>
          <a:p>
            <a:r>
              <a:rPr lang="en-IN" b="1" dirty="0"/>
              <a:t>Technique: Array Filtering(</a:t>
            </a:r>
            <a:r>
              <a:rPr lang="en-IN" b="1" dirty="0" err="1"/>
              <a:t>Members.jsx</a:t>
            </a:r>
            <a:r>
              <a:rPr lang="en-IN" b="1" dirty="0"/>
              <a:t>)</a:t>
            </a:r>
          </a:p>
        </p:txBody>
      </p:sp>
      <p:sp>
        <p:nvSpPr>
          <p:cNvPr id="14" name="TextBox 13">
            <a:extLst>
              <a:ext uri="{FF2B5EF4-FFF2-40B4-BE49-F238E27FC236}">
                <a16:creationId xmlns:a16="http://schemas.microsoft.com/office/drawing/2014/main" id="{D1B6A6CD-5A5C-9811-9ECB-FF599BD1B579}"/>
              </a:ext>
            </a:extLst>
          </p:cNvPr>
          <p:cNvSpPr txBox="1"/>
          <p:nvPr/>
        </p:nvSpPr>
        <p:spPr>
          <a:xfrm>
            <a:off x="5727032" y="2067266"/>
            <a:ext cx="5999744" cy="1815882"/>
          </a:xfrm>
          <a:prstGeom prst="rect">
            <a:avLst/>
          </a:prstGeom>
          <a:noFill/>
        </p:spPr>
        <p:txBody>
          <a:bodyPr wrap="square">
            <a:spAutoFit/>
          </a:bodyPr>
          <a:lstStyle/>
          <a:p>
            <a:pPr>
              <a:buNone/>
            </a:pPr>
            <a:r>
              <a:rPr lang="en-IN" sz="1600" b="1" dirty="0"/>
              <a:t>Techniques used:</a:t>
            </a:r>
            <a:endParaRPr lang="en-IN" sz="1600" dirty="0"/>
          </a:p>
          <a:p>
            <a:pPr marL="342900" lvl="0" indent="-342900">
              <a:buFont typeface="Arial" panose="020B0604020202020204" pitchFamily="34" charset="0"/>
              <a:buChar char="•"/>
            </a:pPr>
            <a:r>
              <a:rPr lang="en-IN" sz="1600" dirty="0"/>
              <a:t>Uses </a:t>
            </a:r>
            <a:r>
              <a:rPr lang="en-IN" sz="1600" dirty="0">
                <a:latin typeface="+mn-lt"/>
              </a:rPr>
              <a:t>.filter()</a:t>
            </a:r>
            <a:r>
              <a:rPr lang="en-IN" sz="1600" dirty="0"/>
              <a:t> to find matching members. </a:t>
            </a:r>
          </a:p>
          <a:p>
            <a:pPr marL="342900" lvl="0" indent="-342900">
              <a:buFont typeface="Arial" panose="020B0604020202020204" pitchFamily="34" charset="0"/>
              <a:buChar char="•"/>
            </a:pPr>
            <a:r>
              <a:rPr lang="en-IN" sz="1600" dirty="0"/>
              <a:t>Searches names, email addresses, and departments. </a:t>
            </a:r>
          </a:p>
          <a:p>
            <a:pPr marL="342900" lvl="0" indent="-342900">
              <a:buFont typeface="Arial" panose="020B0604020202020204" pitchFamily="34" charset="0"/>
              <a:buChar char="•"/>
            </a:pPr>
            <a:r>
              <a:rPr lang="en-IN" sz="1600" dirty="0"/>
              <a:t>Converts text to lowercase for case-insensitive searching. </a:t>
            </a:r>
          </a:p>
          <a:p>
            <a:pPr marL="342900" lvl="0" indent="-342900">
              <a:buFont typeface="Arial" panose="020B0604020202020204" pitchFamily="34" charset="0"/>
              <a:buChar char="•"/>
            </a:pPr>
            <a:r>
              <a:rPr lang="en-IN" sz="1600" dirty="0"/>
              <a:t>Updates displayed results when the search query changes.</a:t>
            </a:r>
          </a:p>
        </p:txBody>
      </p:sp>
      <p:sp>
        <p:nvSpPr>
          <p:cNvPr id="16" name="TextBox 15">
            <a:extLst>
              <a:ext uri="{FF2B5EF4-FFF2-40B4-BE49-F238E27FC236}">
                <a16:creationId xmlns:a16="http://schemas.microsoft.com/office/drawing/2014/main" id="{741427F8-D351-8AB8-582E-7D8C43A05675}"/>
              </a:ext>
            </a:extLst>
          </p:cNvPr>
          <p:cNvSpPr txBox="1"/>
          <p:nvPr/>
        </p:nvSpPr>
        <p:spPr>
          <a:xfrm>
            <a:off x="381221" y="3812037"/>
            <a:ext cx="9468632" cy="369332"/>
          </a:xfrm>
          <a:prstGeom prst="rect">
            <a:avLst/>
          </a:prstGeom>
          <a:noFill/>
        </p:spPr>
        <p:txBody>
          <a:bodyPr wrap="square">
            <a:spAutoFit/>
          </a:bodyPr>
          <a:lstStyle/>
          <a:p>
            <a:pPr>
              <a:buNone/>
            </a:pPr>
            <a:r>
              <a:rPr lang="en-IN" b="1" dirty="0"/>
              <a:t>Technique: Controlled Components and Input Validation (</a:t>
            </a:r>
            <a:r>
              <a:rPr lang="en-IN" b="1" dirty="0" err="1"/>
              <a:t>Members.jsx</a:t>
            </a:r>
            <a:r>
              <a:rPr lang="en-IN" b="1" dirty="0"/>
              <a:t>)</a:t>
            </a:r>
            <a:endParaRPr lang="en-IN" dirty="0"/>
          </a:p>
        </p:txBody>
      </p:sp>
      <p:pic>
        <p:nvPicPr>
          <p:cNvPr id="18" name="Picture 17">
            <a:extLst>
              <a:ext uri="{FF2B5EF4-FFF2-40B4-BE49-F238E27FC236}">
                <a16:creationId xmlns:a16="http://schemas.microsoft.com/office/drawing/2014/main" id="{1F443162-004C-4DD4-C8E4-384235067285}"/>
              </a:ext>
            </a:extLst>
          </p:cNvPr>
          <p:cNvPicPr>
            <a:picLocks noChangeAspect="1"/>
          </p:cNvPicPr>
          <p:nvPr/>
        </p:nvPicPr>
        <p:blipFill>
          <a:blip r:embed="rId5"/>
          <a:stretch>
            <a:fillRect/>
          </a:stretch>
        </p:blipFill>
        <p:spPr>
          <a:xfrm>
            <a:off x="888685" y="4196452"/>
            <a:ext cx="4726053" cy="1905098"/>
          </a:xfrm>
          <a:prstGeom prst="rect">
            <a:avLst/>
          </a:prstGeom>
        </p:spPr>
      </p:pic>
      <p:sp>
        <p:nvSpPr>
          <p:cNvPr id="20" name="TextBox 19">
            <a:extLst>
              <a:ext uri="{FF2B5EF4-FFF2-40B4-BE49-F238E27FC236}">
                <a16:creationId xmlns:a16="http://schemas.microsoft.com/office/drawing/2014/main" id="{0C9DE03D-6034-816A-494D-7504E6505DB2}"/>
              </a:ext>
            </a:extLst>
          </p:cNvPr>
          <p:cNvSpPr txBox="1"/>
          <p:nvPr/>
        </p:nvSpPr>
        <p:spPr>
          <a:xfrm>
            <a:off x="5771369" y="4373524"/>
            <a:ext cx="6096000" cy="1569660"/>
          </a:xfrm>
          <a:prstGeom prst="rect">
            <a:avLst/>
          </a:prstGeom>
          <a:noFill/>
        </p:spPr>
        <p:txBody>
          <a:bodyPr wrap="square">
            <a:spAutoFit/>
          </a:bodyPr>
          <a:lstStyle/>
          <a:p>
            <a:pPr>
              <a:buNone/>
            </a:pPr>
            <a:r>
              <a:rPr lang="en-IN" sz="1600" b="1" dirty="0"/>
              <a:t>Techniques used:</a:t>
            </a:r>
            <a:endParaRPr lang="en-IN" sz="1600" dirty="0"/>
          </a:p>
          <a:p>
            <a:pPr marL="342900" lvl="0" indent="-342900">
              <a:buFont typeface="Arial" panose="020B0604020202020204" pitchFamily="34" charset="0"/>
              <a:buChar char="•"/>
            </a:pPr>
            <a:r>
              <a:rPr lang="en-IN" sz="1600" dirty="0"/>
              <a:t>Controlled inputs store form values in React state. </a:t>
            </a:r>
          </a:p>
          <a:p>
            <a:pPr marL="342900" lvl="0" indent="-342900">
              <a:buFont typeface="Arial" panose="020B0604020202020204" pitchFamily="34" charset="0"/>
              <a:buChar char="•"/>
            </a:pPr>
            <a:r>
              <a:rPr lang="en-IN" sz="1600" dirty="0" err="1">
                <a:latin typeface="+mn-lt"/>
              </a:rPr>
              <a:t>onChange</a:t>
            </a:r>
            <a:r>
              <a:rPr lang="en-IN" sz="1600" dirty="0"/>
              <a:t> updates the form data. </a:t>
            </a:r>
          </a:p>
          <a:p>
            <a:pPr marL="342900" lvl="0" indent="-342900">
              <a:buFont typeface="Arial" panose="020B0604020202020204" pitchFamily="34" charset="0"/>
              <a:buChar char="•"/>
            </a:pPr>
            <a:r>
              <a:rPr lang="en-IN" sz="1600" dirty="0">
                <a:latin typeface="+mn-lt"/>
              </a:rPr>
              <a:t>required</a:t>
            </a:r>
            <a:r>
              <a:rPr lang="en-IN" sz="1600" dirty="0"/>
              <a:t> validates mandatory fields. </a:t>
            </a:r>
          </a:p>
          <a:p>
            <a:pPr marL="342900" lvl="0" indent="-342900">
              <a:buFont typeface="Arial" panose="020B0604020202020204" pitchFamily="34" charset="0"/>
              <a:buChar char="•"/>
            </a:pPr>
            <a:r>
              <a:rPr lang="en-IN" sz="1600" dirty="0" err="1">
                <a:latin typeface="+mn-lt"/>
              </a:rPr>
              <a:t>minLength</a:t>
            </a:r>
            <a:r>
              <a:rPr lang="en-IN" sz="1600" dirty="0"/>
              <a:t> requires passwords to contain at least eight characters.</a:t>
            </a:r>
          </a:p>
        </p:txBody>
      </p:sp>
    </p:spTree>
    <p:extLst>
      <p:ext uri="{BB962C8B-B14F-4D97-AF65-F5344CB8AC3E}">
        <p14:creationId xmlns:p14="http://schemas.microsoft.com/office/powerpoint/2010/main" val="604691914"/>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6C477909-F4EE-B788-FAE7-E1C77FFF5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0947D-6B4C-0EB0-22B3-458EF037CAF1}"/>
              </a:ext>
            </a:extLst>
          </p:cNvPr>
          <p:cNvSpPr>
            <a:spLocks noGrp="1"/>
          </p:cNvSpPr>
          <p:nvPr>
            <p:ph type="title"/>
          </p:nvPr>
        </p:nvSpPr>
        <p:spPr/>
        <p:txBody>
          <a:bodyPr/>
          <a:lstStyle/>
          <a:p>
            <a:r>
              <a:rPr lang="en-IN" altLang="en-US" sz="3200" b="1">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2217C7-E30D-D04A-DD45-295E954A1A6E}"/>
              </a:ext>
            </a:extLst>
          </p:cNvPr>
          <p:cNvSpPr txBox="1"/>
          <p:nvPr/>
        </p:nvSpPr>
        <p:spPr>
          <a:xfrm>
            <a:off x="766233" y="1874602"/>
            <a:ext cx="11313990" cy="369332"/>
          </a:xfrm>
          <a:prstGeom prst="rect">
            <a:avLst/>
          </a:prstGeom>
          <a:noFill/>
        </p:spPr>
        <p:txBody>
          <a:bodyPr wrap="square">
            <a:spAutoFit/>
          </a:bodyPr>
          <a:lstStyle/>
          <a:p>
            <a:r>
              <a:rPr lang="en-IN" b="1" dirty="0"/>
              <a:t>Technique: Relational Database Design and Referential Integrity (</a:t>
            </a:r>
            <a:r>
              <a:rPr lang="en-IN" b="1" dirty="0" err="1"/>
              <a:t>bookbridge.sql</a:t>
            </a:r>
            <a:r>
              <a:rPr lang="en-IN" b="1" dirty="0"/>
              <a:t>)</a:t>
            </a:r>
          </a:p>
        </p:txBody>
      </p:sp>
      <p:pic>
        <p:nvPicPr>
          <p:cNvPr id="6" name="Picture 5">
            <a:extLst>
              <a:ext uri="{FF2B5EF4-FFF2-40B4-BE49-F238E27FC236}">
                <a16:creationId xmlns:a16="http://schemas.microsoft.com/office/drawing/2014/main" id="{334DC5B4-3D73-F818-FC4A-F368A5C2AF44}"/>
              </a:ext>
            </a:extLst>
          </p:cNvPr>
          <p:cNvPicPr>
            <a:picLocks noChangeAspect="1"/>
          </p:cNvPicPr>
          <p:nvPr/>
        </p:nvPicPr>
        <p:blipFill>
          <a:blip r:embed="rId4"/>
          <a:stretch>
            <a:fillRect/>
          </a:stretch>
        </p:blipFill>
        <p:spPr>
          <a:xfrm>
            <a:off x="895540" y="2444683"/>
            <a:ext cx="6836281" cy="3154012"/>
          </a:xfrm>
          <a:prstGeom prst="rect">
            <a:avLst/>
          </a:prstGeom>
        </p:spPr>
      </p:pic>
      <p:sp>
        <p:nvSpPr>
          <p:cNvPr id="8" name="TextBox 7">
            <a:extLst>
              <a:ext uri="{FF2B5EF4-FFF2-40B4-BE49-F238E27FC236}">
                <a16:creationId xmlns:a16="http://schemas.microsoft.com/office/drawing/2014/main" id="{43FE9B1D-1C62-4372-F1D3-278183B74F0E}"/>
              </a:ext>
            </a:extLst>
          </p:cNvPr>
          <p:cNvSpPr txBox="1"/>
          <p:nvPr/>
        </p:nvSpPr>
        <p:spPr>
          <a:xfrm>
            <a:off x="7908780" y="2235930"/>
            <a:ext cx="3994484" cy="3539430"/>
          </a:xfrm>
          <a:prstGeom prst="rect">
            <a:avLst/>
          </a:prstGeom>
          <a:noFill/>
        </p:spPr>
        <p:txBody>
          <a:bodyPr wrap="square">
            <a:spAutoFit/>
          </a:bodyPr>
          <a:lstStyle/>
          <a:p>
            <a:pPr>
              <a:buNone/>
            </a:pPr>
            <a:r>
              <a:rPr lang="en-IN" sz="1600" b="1" dirty="0"/>
              <a:t>Techniques Used</a:t>
            </a:r>
          </a:p>
          <a:p>
            <a:pPr marL="342900" lvl="0" indent="-342900">
              <a:buFont typeface="Arial" panose="020B0604020202020204" pitchFamily="34" charset="0"/>
              <a:buChar char="•"/>
            </a:pPr>
            <a:r>
              <a:rPr lang="en-IN" sz="1600" b="1" dirty="0"/>
              <a:t>Primary Key:</a:t>
            </a:r>
            <a:r>
              <a:rPr lang="en-IN" sz="1600" dirty="0"/>
              <a:t> Uniquely identifies each book and issue record. </a:t>
            </a:r>
          </a:p>
          <a:p>
            <a:pPr marL="342900" lvl="0" indent="-342900">
              <a:buFont typeface="Arial" panose="020B0604020202020204" pitchFamily="34" charset="0"/>
              <a:buChar char="•"/>
            </a:pPr>
            <a:r>
              <a:rPr lang="en-IN" sz="1600" b="1" dirty="0"/>
              <a:t>Foreign Key:</a:t>
            </a:r>
            <a:r>
              <a:rPr lang="en-IN" sz="1600" dirty="0"/>
              <a:t> Connects borrowing records to books and members. </a:t>
            </a:r>
          </a:p>
          <a:p>
            <a:pPr marL="342900" lvl="0" indent="-342900">
              <a:buFont typeface="Arial" panose="020B0604020202020204" pitchFamily="34" charset="0"/>
              <a:buChar char="•"/>
            </a:pPr>
            <a:r>
              <a:rPr lang="en-IN" sz="1600" b="1" dirty="0"/>
              <a:t>UNIQUE Constraint:</a:t>
            </a:r>
            <a:r>
              <a:rPr lang="en-IN" sz="1600" dirty="0"/>
              <a:t> Prevents duplicate ISBN values. </a:t>
            </a:r>
          </a:p>
          <a:p>
            <a:pPr marL="342900" lvl="0" indent="-342900">
              <a:buFont typeface="Arial" panose="020B0604020202020204" pitchFamily="34" charset="0"/>
              <a:buChar char="•"/>
            </a:pPr>
            <a:r>
              <a:rPr lang="en-IN" sz="1600" b="1" dirty="0"/>
              <a:t>NOT NULL:</a:t>
            </a:r>
            <a:r>
              <a:rPr lang="en-IN" sz="1600" dirty="0"/>
              <a:t> Ensures required fields contain values. </a:t>
            </a:r>
          </a:p>
          <a:p>
            <a:pPr marL="342900" lvl="0" indent="-342900">
              <a:buFont typeface="Arial" panose="020B0604020202020204" pitchFamily="34" charset="0"/>
              <a:buChar char="•"/>
            </a:pPr>
            <a:r>
              <a:rPr lang="en-IN" sz="1600" b="1" dirty="0"/>
              <a:t>CHECK Constraints:</a:t>
            </a:r>
            <a:r>
              <a:rPr lang="en-IN" sz="1600" dirty="0"/>
              <a:t> Help prevent invalid copy counts. </a:t>
            </a:r>
          </a:p>
          <a:p>
            <a:pPr marL="342900" lvl="0" indent="-342900">
              <a:buFont typeface="Arial" panose="020B0604020202020204" pitchFamily="34" charset="0"/>
              <a:buChar char="•"/>
            </a:pPr>
            <a:r>
              <a:rPr lang="en-IN" sz="1600" b="1" dirty="0"/>
              <a:t>ENUM:</a:t>
            </a:r>
            <a:r>
              <a:rPr lang="en-IN" sz="1600" dirty="0"/>
              <a:t> Restricts issue status to </a:t>
            </a:r>
            <a:r>
              <a:rPr lang="en-IN" sz="1600" dirty="0">
                <a:latin typeface="+mn-lt"/>
              </a:rPr>
              <a:t>Issued</a:t>
            </a:r>
            <a:r>
              <a:rPr lang="en-IN" sz="1600" dirty="0"/>
              <a:t> or </a:t>
            </a:r>
            <a:r>
              <a:rPr lang="en-IN" sz="1600" dirty="0">
                <a:latin typeface="+mn-lt"/>
              </a:rPr>
              <a:t>Returned</a:t>
            </a:r>
            <a:r>
              <a:rPr lang="en-IN" sz="1600" dirty="0"/>
              <a:t>.</a:t>
            </a:r>
          </a:p>
        </p:txBody>
      </p:sp>
    </p:spTree>
    <p:extLst>
      <p:ext uri="{BB962C8B-B14F-4D97-AF65-F5344CB8AC3E}">
        <p14:creationId xmlns:p14="http://schemas.microsoft.com/office/powerpoint/2010/main" val="3012509187"/>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452FAC19-297F-E7E3-1417-21B4FADBB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0A295-052C-86E7-08D9-E7FE3C226BB8}"/>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PROJECT STRUCTURE &amp; FILE ORGANIZATION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27F52F1-6DDE-F3A3-0019-6B3E93452D71}"/>
              </a:ext>
            </a:extLst>
          </p:cNvPr>
          <p:cNvPicPr>
            <a:picLocks noChangeAspect="1"/>
          </p:cNvPicPr>
          <p:nvPr/>
        </p:nvPicPr>
        <p:blipFill>
          <a:blip r:embed="rId4"/>
          <a:stretch>
            <a:fillRect/>
          </a:stretch>
        </p:blipFill>
        <p:spPr>
          <a:xfrm>
            <a:off x="4743910" y="1710894"/>
            <a:ext cx="2704180" cy="4387505"/>
          </a:xfrm>
          <a:prstGeom prst="rect">
            <a:avLst/>
          </a:prstGeom>
        </p:spPr>
      </p:pic>
    </p:spTree>
    <p:extLst>
      <p:ext uri="{BB962C8B-B14F-4D97-AF65-F5344CB8AC3E}">
        <p14:creationId xmlns:p14="http://schemas.microsoft.com/office/powerpoint/2010/main" val="2408818396"/>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4078D63B-A3C3-53A8-E1B7-7199F64E1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CEE19-F5BD-18B3-FEBD-87724AA20E0B}"/>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TESTING AND RESULTS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95A70A-3A06-FF2C-9D9C-9495F026F0DA}"/>
              </a:ext>
            </a:extLst>
          </p:cNvPr>
          <p:cNvSpPr txBox="1"/>
          <p:nvPr/>
        </p:nvSpPr>
        <p:spPr>
          <a:xfrm>
            <a:off x="871268" y="1915065"/>
            <a:ext cx="10481094" cy="3664786"/>
          </a:xfrm>
          <a:prstGeom prst="rect">
            <a:avLst/>
          </a:prstGeom>
          <a:noFill/>
        </p:spPr>
        <p:txBody>
          <a:bodyPr wrap="square">
            <a:spAutoFit/>
          </a:bodyPr>
          <a:lstStyle/>
          <a:p>
            <a:pPr marL="342900" lvl="0" indent="-342900">
              <a:lnSpc>
                <a:spcPct val="200000"/>
              </a:lnSpc>
              <a:buFont typeface="Wingdings" panose="05000000000000000000" pitchFamily="2" charset="2"/>
              <a:buChar char="q"/>
            </a:pPr>
            <a:r>
              <a:rPr lang="en-IN" sz="2400" dirty="0"/>
              <a:t>Tested login and authentication for admin and members. </a:t>
            </a:r>
          </a:p>
          <a:p>
            <a:pPr marL="342900" lvl="0" indent="-342900">
              <a:lnSpc>
                <a:spcPct val="200000"/>
              </a:lnSpc>
              <a:buFont typeface="Wingdings" panose="05000000000000000000" pitchFamily="2" charset="2"/>
              <a:buChar char="q"/>
            </a:pPr>
            <a:r>
              <a:rPr lang="en-IN" sz="2400" dirty="0"/>
              <a:t>Verified book catalogue search and book availability. </a:t>
            </a:r>
          </a:p>
          <a:p>
            <a:pPr marL="342900" lvl="0" indent="-342900">
              <a:lnSpc>
                <a:spcPct val="200000"/>
              </a:lnSpc>
              <a:buFont typeface="Wingdings" panose="05000000000000000000" pitchFamily="2" charset="2"/>
              <a:buChar char="q"/>
            </a:pPr>
            <a:r>
              <a:rPr lang="en-IN" sz="2400" dirty="0"/>
              <a:t>Tested adding books and registering members. </a:t>
            </a:r>
          </a:p>
          <a:p>
            <a:pPr marL="342900" lvl="0" indent="-342900">
              <a:lnSpc>
                <a:spcPct val="200000"/>
              </a:lnSpc>
              <a:buFont typeface="Wingdings" panose="05000000000000000000" pitchFamily="2" charset="2"/>
              <a:buChar char="q"/>
            </a:pPr>
            <a:r>
              <a:rPr lang="en-IN" sz="2400" dirty="0"/>
              <a:t>Verified book issue and return operations. </a:t>
            </a:r>
          </a:p>
          <a:p>
            <a:pPr marL="342900" lvl="0" indent="-342900">
              <a:lnSpc>
                <a:spcPct val="200000"/>
              </a:lnSpc>
              <a:buFont typeface="Wingdings" panose="05000000000000000000" pitchFamily="2" charset="2"/>
              <a:buChar char="q"/>
            </a:pPr>
            <a:r>
              <a:rPr lang="en-IN" sz="2400" dirty="0"/>
              <a:t>Checked report generation and database updates.</a:t>
            </a:r>
          </a:p>
        </p:txBody>
      </p:sp>
    </p:spTree>
    <p:extLst>
      <p:ext uri="{BB962C8B-B14F-4D97-AF65-F5344CB8AC3E}">
        <p14:creationId xmlns:p14="http://schemas.microsoft.com/office/powerpoint/2010/main" val="2867432542"/>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B8F0D34F-26F0-FABE-76A6-D2108CCF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9FA66-BE3D-3789-98B9-50DEFF74FFCD}"/>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CONCLUSION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56097D-254D-9352-3695-01D4C36D5485}"/>
              </a:ext>
            </a:extLst>
          </p:cNvPr>
          <p:cNvSpPr txBox="1"/>
          <p:nvPr/>
        </p:nvSpPr>
        <p:spPr>
          <a:xfrm>
            <a:off x="897148" y="2023719"/>
            <a:ext cx="10537085" cy="3895618"/>
          </a:xfrm>
          <a:prstGeom prst="rect">
            <a:avLst/>
          </a:prstGeom>
          <a:noFill/>
        </p:spPr>
        <p:txBody>
          <a:bodyPr wrap="square">
            <a:spAutoFit/>
          </a:bodyPr>
          <a:lstStyle/>
          <a:p>
            <a:pPr algn="just">
              <a:lnSpc>
                <a:spcPct val="150000"/>
              </a:lnSpc>
            </a:pPr>
            <a:r>
              <a:rPr lang="en-IN" sz="2400" dirty="0"/>
              <a:t>	</a:t>
            </a:r>
            <a:r>
              <a:rPr lang="en-IN" sz="2400" dirty="0" err="1"/>
              <a:t>BookBridge</a:t>
            </a:r>
            <a:r>
              <a:rPr lang="en-IN" sz="2400" dirty="0"/>
              <a:t> is a web-based library management system designed to simplify library operations. It provides features for book catalogue management, member registration, book issue and return tracking, and report generation. The system uses React.js for the frontend, PHP for the backend, and MySQL for database management. It helps maintain organized records, monitor book availability, and improve the efficiency of library management.</a:t>
            </a:r>
          </a:p>
        </p:txBody>
      </p:sp>
    </p:spTree>
    <p:extLst>
      <p:ext uri="{BB962C8B-B14F-4D97-AF65-F5344CB8AC3E}">
        <p14:creationId xmlns:p14="http://schemas.microsoft.com/office/powerpoint/2010/main" val="116074702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0C59E45-F531-73F3-6518-E0D0530B7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FF3D1-7A7A-5510-D8DD-D378417984A8}"/>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FUTURE ENHANCEMENTS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DF7DBCB-6C0A-A540-3394-1DC3AC3A0FBC}"/>
              </a:ext>
            </a:extLst>
          </p:cNvPr>
          <p:cNvSpPr txBox="1"/>
          <p:nvPr/>
        </p:nvSpPr>
        <p:spPr>
          <a:xfrm>
            <a:off x="766233" y="2136339"/>
            <a:ext cx="10668000" cy="3664786"/>
          </a:xfrm>
          <a:prstGeom prst="rect">
            <a:avLst/>
          </a:prstGeom>
          <a:noFill/>
        </p:spPr>
        <p:txBody>
          <a:bodyPr wrap="square">
            <a:spAutoFit/>
          </a:bodyPr>
          <a:lstStyle/>
          <a:p>
            <a:pPr marL="342900" lvl="0" indent="-342900">
              <a:lnSpc>
                <a:spcPct val="200000"/>
              </a:lnSpc>
              <a:buFont typeface="Wingdings" panose="05000000000000000000" pitchFamily="2" charset="2"/>
              <a:buChar char="q"/>
            </a:pPr>
            <a:r>
              <a:rPr lang="en-IN" sz="2400" dirty="0"/>
              <a:t>Implement automated email reminders for due dates. </a:t>
            </a:r>
          </a:p>
          <a:p>
            <a:pPr marL="342900" lvl="0" indent="-342900">
              <a:lnSpc>
                <a:spcPct val="200000"/>
              </a:lnSpc>
              <a:buFont typeface="Wingdings" panose="05000000000000000000" pitchFamily="2" charset="2"/>
              <a:buChar char="q"/>
            </a:pPr>
            <a:r>
              <a:rPr lang="en-IN" sz="2400" dirty="0"/>
              <a:t>Introduce automatic fine calculation for overdue books. </a:t>
            </a:r>
          </a:p>
          <a:p>
            <a:pPr marL="342900" lvl="0" indent="-342900">
              <a:lnSpc>
                <a:spcPct val="200000"/>
              </a:lnSpc>
              <a:buFont typeface="Wingdings" panose="05000000000000000000" pitchFamily="2" charset="2"/>
              <a:buChar char="q"/>
            </a:pPr>
            <a:r>
              <a:rPr lang="en-IN" sz="2400" dirty="0"/>
              <a:t>Add online book reservation functionality. </a:t>
            </a:r>
          </a:p>
          <a:p>
            <a:pPr marL="342900" lvl="0" indent="-342900">
              <a:lnSpc>
                <a:spcPct val="200000"/>
              </a:lnSpc>
              <a:buFont typeface="Wingdings" panose="05000000000000000000" pitchFamily="2" charset="2"/>
              <a:buChar char="q"/>
            </a:pPr>
            <a:r>
              <a:rPr lang="en-IN" sz="2400" dirty="0"/>
              <a:t>Generate downloadable library reports. </a:t>
            </a:r>
          </a:p>
          <a:p>
            <a:pPr marL="342900" lvl="0" indent="-342900">
              <a:lnSpc>
                <a:spcPct val="200000"/>
              </a:lnSpc>
              <a:buFont typeface="Wingdings" panose="05000000000000000000" pitchFamily="2" charset="2"/>
              <a:buChar char="q"/>
            </a:pPr>
            <a:r>
              <a:rPr lang="en-IN" sz="2400" dirty="0"/>
              <a:t>Develop a mobile-friendly application for easier access. </a:t>
            </a:r>
          </a:p>
        </p:txBody>
      </p:sp>
    </p:spTree>
    <p:extLst>
      <p:ext uri="{BB962C8B-B14F-4D97-AF65-F5344CB8AC3E}">
        <p14:creationId xmlns:p14="http://schemas.microsoft.com/office/powerpoint/2010/main" val="2649922039"/>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EB213B0F-F659-C03F-B1F6-9E1936939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5D9EF-4A14-38F5-E656-4A907DF519EB}"/>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REFERENCES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984AFE-ED2D-F88D-906A-0D6438AF3380}"/>
              </a:ext>
            </a:extLst>
          </p:cNvPr>
          <p:cNvSpPr txBox="1"/>
          <p:nvPr/>
        </p:nvSpPr>
        <p:spPr>
          <a:xfrm>
            <a:off x="828135" y="1723262"/>
            <a:ext cx="10998680" cy="4893647"/>
          </a:xfrm>
          <a:prstGeom prst="rect">
            <a:avLst/>
          </a:prstGeom>
          <a:noFill/>
        </p:spPr>
        <p:txBody>
          <a:bodyPr wrap="square">
            <a:spAutoFit/>
          </a:bodyPr>
          <a:lstStyle/>
          <a:p>
            <a:pPr>
              <a:buNone/>
            </a:pPr>
            <a:r>
              <a:rPr lang="en-IN" sz="1600" dirty="0"/>
              <a:t>[1] Shailendra, K., &amp; Rai, N. (2011). Literature review of research on web interface in library management software systems. </a:t>
            </a:r>
            <a:r>
              <a:rPr lang="en-IN" sz="1600" i="1" dirty="0"/>
              <a:t>DESIDOC Journal of Library &amp; Information Technology, 31</a:t>
            </a:r>
            <a:r>
              <a:rPr lang="en-IN" sz="1600" dirty="0"/>
              <a:t>(4), 262–274.</a:t>
            </a:r>
          </a:p>
          <a:p>
            <a:pPr>
              <a:buNone/>
            </a:pPr>
            <a:endParaRPr lang="en-IN" sz="1600" dirty="0"/>
          </a:p>
          <a:p>
            <a:pPr>
              <a:buNone/>
            </a:pPr>
            <a:r>
              <a:rPr lang="en-IN" sz="1600" dirty="0"/>
              <a:t>[2] Wang, Z. (2009). Integrated library system (ILS) challenges and opportunities: A survey of U.S. academic libraries with migration projects. </a:t>
            </a:r>
            <a:r>
              <a:rPr lang="en-IN" sz="1600" i="1" dirty="0"/>
              <a:t>The Journal of Academic Librarianship.</a:t>
            </a:r>
            <a:endParaRPr lang="en-IN" sz="1600" dirty="0"/>
          </a:p>
          <a:p>
            <a:pPr>
              <a:buNone/>
            </a:pPr>
            <a:endParaRPr lang="en-IN" sz="1600" dirty="0"/>
          </a:p>
          <a:p>
            <a:pPr>
              <a:buNone/>
            </a:pPr>
            <a:r>
              <a:rPr lang="en-IN" sz="1600" dirty="0"/>
              <a:t>[3] </a:t>
            </a:r>
            <a:r>
              <a:rPr lang="en-IN" sz="1600" i="1" dirty="0"/>
              <a:t>Design and implementation of web-based library management system.</a:t>
            </a:r>
            <a:r>
              <a:rPr lang="en-IN" sz="1600" dirty="0"/>
              <a:t> (2023). Proceedings of the International Conference on Information Processing and Network Provisioning.</a:t>
            </a:r>
          </a:p>
          <a:p>
            <a:pPr>
              <a:buNone/>
            </a:pPr>
            <a:endParaRPr lang="en-IN" sz="1600" dirty="0"/>
          </a:p>
          <a:p>
            <a:pPr>
              <a:buNone/>
            </a:pPr>
            <a:r>
              <a:rPr lang="en-IN" sz="1600" dirty="0"/>
              <a:t>[4] Asim, M., &amp; Arif, M. (2025). Adoption of Koha integrated library software in university libraries: A systematic literature review. </a:t>
            </a:r>
            <a:r>
              <a:rPr lang="en-IN" sz="1600" i="1" dirty="0"/>
              <a:t>Serials Review, 51</a:t>
            </a:r>
            <a:r>
              <a:rPr lang="en-IN" sz="1600" dirty="0"/>
              <a:t>(1–2), 54–64.</a:t>
            </a:r>
          </a:p>
          <a:p>
            <a:pPr>
              <a:buNone/>
            </a:pPr>
            <a:endParaRPr lang="en-IN" sz="1600" dirty="0"/>
          </a:p>
          <a:p>
            <a:pPr>
              <a:buNone/>
            </a:pPr>
            <a:r>
              <a:rPr lang="en-IN" sz="1600" dirty="0"/>
              <a:t>[5] React. (n.d.). </a:t>
            </a:r>
            <a:r>
              <a:rPr lang="en-IN" sz="1600" i="1" dirty="0"/>
              <a:t>React documentation.</a:t>
            </a:r>
            <a:r>
              <a:rPr lang="en-IN" sz="1600" dirty="0"/>
              <a:t> </a:t>
            </a:r>
            <a:r>
              <a:rPr lang="en-IN" sz="1600" dirty="0">
                <a:hlinkClick r:id="rId4"/>
              </a:rPr>
              <a:t>https://react.dev/</a:t>
            </a:r>
            <a:endParaRPr lang="en-IN" sz="1600" dirty="0"/>
          </a:p>
          <a:p>
            <a:pPr>
              <a:buNone/>
            </a:pPr>
            <a:endParaRPr lang="en-IN" sz="1600" dirty="0"/>
          </a:p>
          <a:p>
            <a:pPr>
              <a:buNone/>
            </a:pPr>
            <a:r>
              <a:rPr lang="en-IN" sz="1600" dirty="0"/>
              <a:t>[6] PHP. (n.d.). </a:t>
            </a:r>
            <a:r>
              <a:rPr lang="en-IN" sz="1600" i="1" dirty="0"/>
              <a:t>PHP documentation.</a:t>
            </a:r>
            <a:r>
              <a:rPr lang="en-IN" sz="1600" dirty="0"/>
              <a:t> </a:t>
            </a:r>
            <a:r>
              <a:rPr lang="en-IN" sz="1600" dirty="0">
                <a:hlinkClick r:id="rId5"/>
              </a:rPr>
              <a:t>https://www.php.net/docs.php</a:t>
            </a:r>
            <a:endParaRPr lang="en-IN" sz="1600" dirty="0"/>
          </a:p>
          <a:p>
            <a:pPr>
              <a:buNone/>
            </a:pPr>
            <a:endParaRPr lang="en-IN" sz="1600" dirty="0"/>
          </a:p>
          <a:p>
            <a:pPr>
              <a:buNone/>
            </a:pPr>
            <a:r>
              <a:rPr lang="en-IN" sz="1600" dirty="0"/>
              <a:t>[7] Oracle. (n.d.). </a:t>
            </a:r>
            <a:r>
              <a:rPr lang="en-IN" sz="1600" i="1" dirty="0"/>
              <a:t>MySQL documentation.</a:t>
            </a:r>
            <a:r>
              <a:rPr lang="en-IN" sz="1600" dirty="0"/>
              <a:t> </a:t>
            </a:r>
            <a:r>
              <a:rPr lang="en-IN" sz="1600" dirty="0">
                <a:hlinkClick r:id="rId6"/>
              </a:rPr>
              <a:t>https://dev.mysql.com/doc/</a:t>
            </a:r>
            <a:endParaRPr lang="en-IN" sz="1600" dirty="0"/>
          </a:p>
          <a:p>
            <a:pPr>
              <a:buNone/>
            </a:pPr>
            <a:br>
              <a:rPr lang="en-IN" sz="1600" dirty="0"/>
            </a:br>
            <a:endParaRPr lang="en-IN" sz="1600" dirty="0"/>
          </a:p>
        </p:txBody>
      </p:sp>
    </p:spTree>
    <p:extLst>
      <p:ext uri="{BB962C8B-B14F-4D97-AF65-F5344CB8AC3E}">
        <p14:creationId xmlns:p14="http://schemas.microsoft.com/office/powerpoint/2010/main" val="3793774494"/>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A729-0EBD-67F9-70B5-C114BF18F6C5}"/>
              </a:ext>
            </a:extLst>
          </p:cNvPr>
          <p:cNvSpPr>
            <a:spLocks noGrp="1"/>
          </p:cNvSpPr>
          <p:nvPr>
            <p:ph type="title"/>
          </p:nvPr>
        </p:nvSpPr>
        <p:spPr>
          <a:xfrm>
            <a:off x="963084" y="3233711"/>
            <a:ext cx="10363200" cy="1362075"/>
          </a:xfrm>
        </p:spPr>
        <p:txBody>
          <a:bodyPr/>
          <a:lstStyle/>
          <a:p>
            <a:pPr algn="ctr"/>
            <a:r>
              <a:rPr lang="en-IN" dirty="0">
                <a:solidFill>
                  <a:schemeClr val="accent6"/>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EC67B0DF-2BCB-A252-4F71-A3E9530F2C53}"/>
              </a:ext>
            </a:extLst>
          </p:cNvPr>
          <p:cNvSpPr>
            <a:spLocks noGrp="1"/>
          </p:cNvSpPr>
          <p:nvPr>
            <p:ph type="dt" sz="half" idx="10"/>
          </p:nvPr>
        </p:nvSpPr>
        <p:spPr/>
        <p:txBody>
          <a:bodyPr/>
          <a:lstStyle/>
          <a:p>
            <a:pPr>
              <a:defRPr/>
            </a:pPr>
            <a:r>
              <a:rPr lang="en-US"/>
              <a:t>CS19811-Phase-II-Final Viva</a:t>
            </a:r>
            <a:endParaRPr lang="en-US" dirty="0"/>
          </a:p>
        </p:txBody>
      </p:sp>
      <p:sp>
        <p:nvSpPr>
          <p:cNvPr id="5" name="Footer Placeholder 4">
            <a:extLst>
              <a:ext uri="{FF2B5EF4-FFF2-40B4-BE49-F238E27FC236}">
                <a16:creationId xmlns:a16="http://schemas.microsoft.com/office/drawing/2014/main" id="{F0642BFF-6FC3-2881-3E49-5530E46957B9}"/>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BE4EF1D0-E080-9671-0F30-4297A64B2DC4}"/>
              </a:ext>
            </a:extLst>
          </p:cNvPr>
          <p:cNvSpPr>
            <a:spLocks noGrp="1"/>
          </p:cNvSpPr>
          <p:nvPr>
            <p:ph type="sldNum" sz="quarter" idx="12"/>
          </p:nvPr>
        </p:nvSpPr>
        <p:spPr/>
        <p:txBody>
          <a:bodyPr/>
          <a:lstStyle/>
          <a:p>
            <a:pPr>
              <a:defRPr/>
            </a:pPr>
            <a:fld id="{575C213C-AC18-4D5A-BA73-4550FF50B842}" type="slidenum">
              <a:rPr lang="en-US" altLang="en-US" smtClean="0"/>
              <a:pPr>
                <a:defRPr/>
              </a:pPr>
              <a:t>35</a:t>
            </a:fld>
            <a:endParaRPr lang="en-US" altLang="en-US"/>
          </a:p>
        </p:txBody>
      </p:sp>
    </p:spTree>
    <p:extLst>
      <p:ext uri="{BB962C8B-B14F-4D97-AF65-F5344CB8AC3E}">
        <p14:creationId xmlns:p14="http://schemas.microsoft.com/office/powerpoint/2010/main" val="1135659736"/>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2983</TotalTime>
  <Words>1787</Words>
  <Application>Microsoft Office PowerPoint</Application>
  <PresentationFormat>Widescreen</PresentationFormat>
  <Paragraphs>252</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Times New Roman</vt:lpstr>
      <vt:lpstr>Verdana</vt:lpstr>
      <vt:lpstr>Wingdings</vt:lpstr>
      <vt:lpstr>Profile</vt:lpstr>
      <vt:lpstr>PowerPoint Presentation</vt:lpstr>
      <vt:lpstr>ABSTRACT</vt:lpstr>
      <vt:lpstr>PROBLEM STATEMENT</vt:lpstr>
      <vt:lpstr>PROJECT OBJECTIVES</vt:lpstr>
      <vt:lpstr>TOOLS &amp; TECHNOLOGIES</vt:lpstr>
      <vt:lpstr>LITERATURE SURVEY</vt:lpstr>
      <vt:lpstr>SYSTEM ARCHITECTURE</vt:lpstr>
      <vt:lpstr>WEBSITE MODULES</vt:lpstr>
      <vt:lpstr>WEBSITE MODULES</vt:lpstr>
      <vt:lpstr>WEBSITE WORKFLOW</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IMPLEMENTATION</vt:lpstr>
      <vt:lpstr>IMPLEMENTATION</vt:lpstr>
      <vt:lpstr>IMPLEMENTATION</vt:lpstr>
      <vt:lpstr>IMPLEMENTATION</vt:lpstr>
      <vt:lpstr>IMPLEMENTATION</vt:lpstr>
      <vt:lpstr>IMPLEMENTATION</vt:lpstr>
      <vt:lpstr>IMPLEMENTATION</vt:lpstr>
      <vt:lpstr>IMPLEMENTATION</vt:lpstr>
      <vt:lpstr>PROJECT STRUCTURE &amp; FILE ORGANIZATION</vt:lpstr>
      <vt:lpstr>TESTING AND RESULTS</vt:lpstr>
      <vt:lpstr>CONCLUSION</vt:lpstr>
      <vt:lpstr>FUTURE ENHANCEMENTS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Rupmala R</dc:creator>
  <cp:lastModifiedBy>Ponsurabhi Ponsurabhi</cp:lastModifiedBy>
  <cp:revision>62</cp:revision>
  <dcterms:created xsi:type="dcterms:W3CDTF">2023-08-03T04:32:32Z</dcterms:created>
  <dcterms:modified xsi:type="dcterms:W3CDTF">2026-10-21T06:47:17Z</dcterms:modified>
</cp:coreProperties>
</file>